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0"/>
  </p:notesMasterIdLst>
  <p:sldIdLst>
    <p:sldId id="3039" r:id="rId5"/>
    <p:sldId id="3199" r:id="rId6"/>
    <p:sldId id="4225" r:id="rId7"/>
    <p:sldId id="3212" r:id="rId8"/>
    <p:sldId id="3210" r:id="rId9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7DF8"/>
    <a:srgbClr val="3984A3"/>
    <a:srgbClr val="303030"/>
    <a:srgbClr val="E3572D"/>
    <a:srgbClr val="0643D1"/>
    <a:srgbClr val="93C1FC"/>
    <a:srgbClr val="2F2C3C"/>
    <a:srgbClr val="000000"/>
    <a:srgbClr val="F0F0F0"/>
    <a:srgbClr val="0699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5062" autoAdjust="0"/>
    <p:restoredTop sz="89273" autoAdjust="0"/>
  </p:normalViewPr>
  <p:slideViewPr>
    <p:cSldViewPr snapToGrid="0">
      <p:cViewPr varScale="1">
        <p:scale>
          <a:sx n="61" d="100"/>
          <a:sy n="61" d="100"/>
        </p:scale>
        <p:origin x="240" y="6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F2DA2D-D57E-4507-A672-D53FB3FD300A}" type="datetimeFigureOut">
              <a:rPr lang="pt-BR" smtClean="0"/>
              <a:t>29/11/2022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1D8618-5189-473E-A7FE-F4D6FBD7C57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839745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1D8618-5189-473E-A7FE-F4D6FBD7C578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292724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1D8618-5189-473E-A7FE-F4D6FBD7C578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129275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1D8618-5189-473E-A7FE-F4D6FBD7C578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887724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1D8618-5189-473E-A7FE-F4D6FBD7C578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268450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1D8618-5189-473E-A7FE-F4D6FBD7C578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279416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m 10">
            <a:extLst>
              <a:ext uri="{FF2B5EF4-FFF2-40B4-BE49-F238E27FC236}">
                <a16:creationId xmlns:a16="http://schemas.microsoft.com/office/drawing/2014/main" id="{58997DD5-15DE-3A80-EDCB-ADE8C967643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12191999" cy="6917558"/>
          </a:xfrm>
          <a:prstGeom prst="rect">
            <a:avLst/>
          </a:prstGeom>
          <a:solidFill>
            <a:srgbClr val="000000">
              <a:alpha val="30196"/>
            </a:srgbClr>
          </a:solidFill>
        </p:spPr>
      </p:pic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93252-6D86-4D55-898E-15900FCF2D85}" type="datetimeFigureOut">
              <a:rPr lang="pt-BR" smtClean="0"/>
              <a:t>29/11/2022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EB3AF-CDB1-40E7-8C95-C16E03279B8C}" type="slidenum">
              <a:rPr lang="pt-BR" smtClean="0"/>
              <a:t>‹nº›</a:t>
            </a:fld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7C54C29F-905E-C811-641E-71793D834DFE}"/>
              </a:ext>
            </a:extLst>
          </p:cNvPr>
          <p:cNvSpPr/>
          <p:nvPr userDrawn="1"/>
        </p:nvSpPr>
        <p:spPr>
          <a:xfrm>
            <a:off x="0" y="0"/>
            <a:ext cx="12192000" cy="6917558"/>
          </a:xfrm>
          <a:prstGeom prst="rect">
            <a:avLst/>
          </a:prstGeom>
          <a:blipFill dpi="0" rotWithShape="1">
            <a:blip r:embed="rId3" cstate="email">
              <a:alphaModFix amt="13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4DE99B8E-48E9-73AE-75A4-08EC1DC152E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10695" y="741533"/>
            <a:ext cx="2197397" cy="647825"/>
          </a:xfrm>
          <a:prstGeom prst="rect">
            <a:avLst/>
          </a:prstGeom>
        </p:spPr>
      </p:pic>
      <p:sp>
        <p:nvSpPr>
          <p:cNvPr id="9" name="object 8">
            <a:extLst>
              <a:ext uri="{FF2B5EF4-FFF2-40B4-BE49-F238E27FC236}">
                <a16:creationId xmlns:a16="http://schemas.microsoft.com/office/drawing/2014/main" id="{0727E06D-33D4-2883-197B-86E87EB8A130}"/>
              </a:ext>
            </a:extLst>
          </p:cNvPr>
          <p:cNvSpPr txBox="1">
            <a:spLocks/>
          </p:cNvSpPr>
          <p:nvPr userDrawn="1"/>
        </p:nvSpPr>
        <p:spPr>
          <a:xfrm>
            <a:off x="710695" y="1861904"/>
            <a:ext cx="4032096" cy="1331134"/>
          </a:xfrm>
          <a:prstGeom prst="rect">
            <a:avLst/>
          </a:prstGeom>
        </p:spPr>
        <p:txBody>
          <a:bodyPr vert="horz" wrap="square" lIns="0" tIns="12700" rIns="0" bIns="0" rtlCol="0" anchor="b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l">
              <a:lnSpc>
                <a:spcPct val="100000"/>
              </a:lnSpc>
              <a:spcBef>
                <a:spcPts val="100"/>
              </a:spcBef>
            </a:pPr>
            <a:r>
              <a:rPr lang="pt-BR" sz="2800" spc="-70" dirty="0">
                <a:solidFill>
                  <a:srgbClr val="2F2C3C"/>
                </a:solidFill>
                <a:latin typeface="+mj-lt"/>
                <a:ea typeface="Aktiv Grotesk Trial Light" panose="020B0604020202020204" charset="0"/>
                <a:cs typeface="Calibri" panose="020F0502020204030204" pitchFamily="34" charset="0"/>
              </a:rPr>
              <a:t>ACELERANDO </a:t>
            </a:r>
          </a:p>
          <a:p>
            <a:pPr marL="12700" algn="l">
              <a:lnSpc>
                <a:spcPct val="100000"/>
              </a:lnSpc>
              <a:spcBef>
                <a:spcPts val="100"/>
              </a:spcBef>
            </a:pPr>
            <a:r>
              <a:rPr lang="pt-BR" sz="2800" spc="-70" dirty="0">
                <a:solidFill>
                  <a:srgbClr val="2F2C3C"/>
                </a:solidFill>
                <a:latin typeface="Calibri" panose="020F0502020204030204" pitchFamily="34" charset="0"/>
                <a:ea typeface="Aktiv Grotesk Trial Light" panose="020B0604020202020204" charset="0"/>
                <a:cs typeface="Calibri" panose="020F0502020204030204" pitchFamily="34" charset="0"/>
              </a:rPr>
              <a:t>A </a:t>
            </a:r>
            <a:r>
              <a:rPr lang="pt-BR" sz="2800" b="1" spc="-70" dirty="0">
                <a:solidFill>
                  <a:srgbClr val="2F2C3C"/>
                </a:solidFill>
                <a:latin typeface="Calibri" panose="020F0502020204030204" pitchFamily="34" charset="0"/>
                <a:ea typeface="Aktiv Grotesk Trial Light" panose="020B0604020202020204" charset="0"/>
                <a:cs typeface="Calibri" panose="020F0502020204030204" pitchFamily="34" charset="0"/>
              </a:rPr>
              <a:t>TRANSFORMAÇÃO</a:t>
            </a:r>
          </a:p>
          <a:p>
            <a:pPr marL="12700" algn="l">
              <a:lnSpc>
                <a:spcPct val="100000"/>
              </a:lnSpc>
              <a:spcBef>
                <a:spcPts val="100"/>
              </a:spcBef>
            </a:pPr>
            <a:r>
              <a:rPr lang="pt-BR" sz="2800" spc="-70" dirty="0">
                <a:solidFill>
                  <a:srgbClr val="2F2C3C"/>
                </a:solidFill>
                <a:latin typeface="+mj-lt"/>
                <a:ea typeface="Aktiv Grotesk Trial Light" panose="020B0604020202020204" charset="0"/>
                <a:cs typeface="Calibri" panose="020F0502020204030204" pitchFamily="34" charset="0"/>
              </a:rPr>
              <a:t>DAS ORGANIZAÇÕES</a:t>
            </a:r>
            <a:endParaRPr lang="pt-BR" sz="2400" spc="-70" dirty="0">
              <a:solidFill>
                <a:srgbClr val="2F2C3C"/>
              </a:solidFill>
              <a:latin typeface="+mj-lt"/>
              <a:ea typeface="Aktiv Grotesk Trial Light" panose="020B0604020202020204" charset="0"/>
              <a:cs typeface="Calibri" panose="020F0502020204030204" pitchFamily="34" charset="0"/>
            </a:endParaRP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7F186E4D-9A24-A374-9C5B-72442451208D}"/>
              </a:ext>
            </a:extLst>
          </p:cNvPr>
          <p:cNvSpPr/>
          <p:nvPr userDrawn="1"/>
        </p:nvSpPr>
        <p:spPr>
          <a:xfrm>
            <a:off x="11209360" y="6494419"/>
            <a:ext cx="982639" cy="163773"/>
          </a:xfrm>
          <a:prstGeom prst="rect">
            <a:avLst/>
          </a:prstGeom>
          <a:solidFill>
            <a:srgbClr val="93C1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083553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93252-6D86-4D55-898E-15900FCF2D85}" type="datetimeFigureOut">
              <a:rPr lang="pt-BR" smtClean="0"/>
              <a:t>29/11/2022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EB3AF-CDB1-40E7-8C95-C16E03279B8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800300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93252-6D86-4D55-898E-15900FCF2D85}" type="datetimeFigureOut">
              <a:rPr lang="pt-BR" smtClean="0"/>
              <a:t>29/11/2022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EB3AF-CDB1-40E7-8C95-C16E03279B8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185608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93252-6D86-4D55-898E-15900FCF2D85}" type="datetimeFigureOut">
              <a:rPr lang="pt-BR" smtClean="0"/>
              <a:t>29/11/2022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EB3AF-CDB1-40E7-8C95-C16E03279B8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845177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93252-6D86-4D55-898E-15900FCF2D85}" type="datetimeFigureOut">
              <a:rPr lang="pt-BR" smtClean="0"/>
              <a:t>29/11/2022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EB3AF-CDB1-40E7-8C95-C16E03279B8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057664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93252-6D86-4D55-898E-15900FCF2D85}" type="datetimeFigureOut">
              <a:rPr lang="pt-BR" smtClean="0"/>
              <a:t>29/11/2022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EB3AF-CDB1-40E7-8C95-C16E03279B8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685803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93252-6D86-4D55-898E-15900FCF2D85}" type="datetimeFigureOut">
              <a:rPr lang="pt-BR" smtClean="0"/>
              <a:t>29/11/2022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EB3AF-CDB1-40E7-8C95-C16E03279B8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12836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93252-6D86-4D55-898E-15900FCF2D85}" type="datetimeFigureOut">
              <a:rPr lang="pt-BR" smtClean="0"/>
              <a:t>29/11/2022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EB3AF-CDB1-40E7-8C95-C16E03279B8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54004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93252-6D86-4D55-898E-15900FCF2D85}" type="datetimeFigureOut">
              <a:rPr lang="pt-BR" smtClean="0"/>
              <a:t>29/11/2022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EB3AF-CDB1-40E7-8C95-C16E03279B8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970977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93252-6D86-4D55-898E-15900FCF2D85}" type="datetimeFigureOut">
              <a:rPr lang="pt-BR" smtClean="0"/>
              <a:t>29/11/2022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EB3AF-CDB1-40E7-8C95-C16E03279B8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224865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93252-6D86-4D55-898E-15900FCF2D85}" type="datetimeFigureOut">
              <a:rPr lang="pt-BR" smtClean="0"/>
              <a:t>29/11/2022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EB3AF-CDB1-40E7-8C95-C16E03279B8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704720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593252-6D86-4D55-898E-15900FCF2D85}" type="datetimeFigureOut">
              <a:rPr lang="pt-BR" smtClean="0"/>
              <a:t>29/11/2022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FEB3AF-CDB1-40E7-8C95-C16E03279B8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346664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Mão de pessoa&#10;&#10;Descrição gerada automaticamente com confiança média">
            <a:extLst>
              <a:ext uri="{FF2B5EF4-FFF2-40B4-BE49-F238E27FC236}">
                <a16:creationId xmlns:a16="http://schemas.microsoft.com/office/drawing/2014/main" id="{8B205D75-519E-21A2-0604-9B0CA9FF580B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8" name="Retângulo 7">
            <a:extLst>
              <a:ext uri="{FF2B5EF4-FFF2-40B4-BE49-F238E27FC236}">
                <a16:creationId xmlns:a16="http://schemas.microsoft.com/office/drawing/2014/main" id="{07C5950D-EC9B-47E3-B332-0CD1DEA3A738}"/>
              </a:ext>
            </a:extLst>
          </p:cNvPr>
          <p:cNvSpPr/>
          <p:nvPr/>
        </p:nvSpPr>
        <p:spPr>
          <a:xfrm>
            <a:off x="0" y="25936"/>
            <a:ext cx="12192000" cy="6917557"/>
          </a:xfrm>
          <a:prstGeom prst="rect">
            <a:avLst/>
          </a:prstGeom>
          <a:solidFill>
            <a:srgbClr val="004AFB">
              <a:alpha val="6588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latin typeface="Aktiv Grotesk Trial Light" panose="020B0404020202020204" pitchFamily="34" charset="0"/>
            </a:endParaRP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58B30926-3745-F72A-B9FB-A9000BFE8FF3}"/>
              </a:ext>
            </a:extLst>
          </p:cNvPr>
          <p:cNvSpPr/>
          <p:nvPr/>
        </p:nvSpPr>
        <p:spPr>
          <a:xfrm>
            <a:off x="0" y="-29779"/>
            <a:ext cx="12192000" cy="6917558"/>
          </a:xfrm>
          <a:prstGeom prst="rect">
            <a:avLst/>
          </a:prstGeom>
          <a:blipFill dpi="0" rotWithShape="1">
            <a:blip r:embed="rId4">
              <a:alphaModFix amt="20105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2B7D85BD-F3D1-4DF7-9D1B-A5E4F8599656}"/>
              </a:ext>
            </a:extLst>
          </p:cNvPr>
          <p:cNvSpPr txBox="1"/>
          <p:nvPr/>
        </p:nvSpPr>
        <p:spPr>
          <a:xfrm>
            <a:off x="6096000" y="1241286"/>
            <a:ext cx="570047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54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ABORDAGEM</a:t>
            </a:r>
            <a:endParaRPr kumimoji="0" lang="pt-BR" sz="5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5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METODOLÓGICA</a:t>
            </a:r>
            <a:endParaRPr kumimoji="0" lang="pt-BR" sz="4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D774FE4F-0DA8-4158-AF4F-AAE36C450DD5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561096" y="5847499"/>
            <a:ext cx="2235381" cy="658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21598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warp dir="in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object 8">
            <a:extLst>
              <a:ext uri="{FF2B5EF4-FFF2-40B4-BE49-F238E27FC236}">
                <a16:creationId xmlns:a16="http://schemas.microsoft.com/office/drawing/2014/main" id="{F875405A-4045-4133-B2B4-8A7B5E83AE7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83311" y="343664"/>
            <a:ext cx="10801783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z="3600" b="1" spc="-10" dirty="0">
                <a:solidFill>
                  <a:srgbClr val="0699F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ALINHAMENTO ESTRATÉGICO</a:t>
            </a:r>
            <a:endParaRPr sz="3600" b="1" dirty="0">
              <a:solidFill>
                <a:srgbClr val="0699FA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8" name="Imagem 27" descr="Logotipo&#10;&#10;Descrição gerada automaticamente com confiança média">
            <a:extLst>
              <a:ext uri="{FF2B5EF4-FFF2-40B4-BE49-F238E27FC236}">
                <a16:creationId xmlns:a16="http://schemas.microsoft.com/office/drawing/2014/main" id="{81B4D6A5-219C-4C7C-B68A-C7694AEBD630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8894"/>
          <a:stretch/>
        </p:blipFill>
        <p:spPr>
          <a:xfrm>
            <a:off x="11588767" y="6219694"/>
            <a:ext cx="589060" cy="566822"/>
          </a:xfrm>
          <a:prstGeom prst="rect">
            <a:avLst/>
          </a:prstGeom>
        </p:spPr>
      </p:pic>
      <p:sp>
        <p:nvSpPr>
          <p:cNvPr id="2" name="Título 2">
            <a:extLst>
              <a:ext uri="{FF2B5EF4-FFF2-40B4-BE49-F238E27FC236}">
                <a16:creationId xmlns:a16="http://schemas.microsoft.com/office/drawing/2014/main" id="{D4B54EEF-794F-D87F-A009-F5984E733E21}"/>
              </a:ext>
            </a:extLst>
          </p:cNvPr>
          <p:cNvSpPr txBox="1">
            <a:spLocks/>
          </p:cNvSpPr>
          <p:nvPr/>
        </p:nvSpPr>
        <p:spPr>
          <a:xfrm>
            <a:off x="415612" y="1027729"/>
            <a:ext cx="11028665" cy="5201420"/>
          </a:xfrm>
          <a:prstGeom prst="rect">
            <a:avLst/>
          </a:prstGeom>
          <a:noFill/>
        </p:spPr>
        <p:txBody>
          <a:bodyPr wrap="square" lIns="121917" tIns="60958" rIns="121917" bIns="60958" rtlCol="0">
            <a:spAutoFit/>
          </a:bodyPr>
          <a:lstStyle>
            <a:defPPr>
              <a:defRPr lang="pt-BR"/>
            </a:defPPr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algn="just"/>
            <a:r>
              <a:rPr lang="pt-BR" sz="1800" dirty="0">
                <a:cs typeface="Calibri" panose="020F0502020204030204" pitchFamily="34" charset="0"/>
              </a:rPr>
              <a:t>Implantar o alinhamento estratégico significa alinhar os objetivos macro da empresa à sua missão, visão e valores; e a partir daí surgem as estratégias, metas e indicadores. É primordial que, os níveis </a:t>
            </a:r>
            <a:r>
              <a:rPr lang="pt-BR" sz="1800" b="1" dirty="0">
                <a:cs typeface="Calibri" panose="020F0502020204030204" pitchFamily="34" charset="0"/>
              </a:rPr>
              <a:t>estratégico, tático </a:t>
            </a:r>
            <a:r>
              <a:rPr lang="pt-BR" sz="1800" dirty="0">
                <a:cs typeface="Calibri" panose="020F0502020204030204" pitchFamily="34" charset="0"/>
              </a:rPr>
              <a:t>e </a:t>
            </a:r>
            <a:r>
              <a:rPr lang="pt-BR" sz="1800" b="1" dirty="0">
                <a:cs typeface="Calibri" panose="020F0502020204030204" pitchFamily="34" charset="0"/>
              </a:rPr>
              <a:t>operacional</a:t>
            </a:r>
            <a:r>
              <a:rPr lang="pt-BR" sz="1800" dirty="0">
                <a:cs typeface="Calibri" panose="020F0502020204030204" pitchFamily="34" charset="0"/>
              </a:rPr>
              <a:t>, de todas as áreas da empresa, estejam alinhados e saibam onde estão, onde devem chegar e quais ações devem ser tomadas para se alcançar essas metas e objetivos.</a:t>
            </a:r>
          </a:p>
          <a:p>
            <a:endParaRPr lang="pt-BR" dirty="0">
              <a:ea typeface="Aktiv Grotesk Trial Light" panose="020B0404020202020204" pitchFamily="34" charset="0"/>
              <a:cs typeface="Calibri" panose="020F0502020204030204" pitchFamily="34" charset="0"/>
            </a:endParaRPr>
          </a:p>
          <a:p>
            <a:r>
              <a:rPr lang="pt-BR" b="1" dirty="0">
                <a:ea typeface="Aktiv Grotesk Trial Light" panose="020B0404020202020204" pitchFamily="34" charset="0"/>
                <a:cs typeface="Calibri" panose="020F0502020204030204" pitchFamily="34" charset="0"/>
              </a:rPr>
              <a:t>Método </a:t>
            </a:r>
            <a:r>
              <a:rPr lang="pt-BR" b="1" dirty="0" err="1">
                <a:ea typeface="Aktiv Grotesk Trial Light" panose="020B0404020202020204" pitchFamily="34" charset="0"/>
                <a:cs typeface="Calibri" panose="020F0502020204030204" pitchFamily="34" charset="0"/>
              </a:rPr>
              <a:t>Athon</a:t>
            </a:r>
            <a:endParaRPr lang="pt-BR" b="1" dirty="0">
              <a:ea typeface="Aktiv Grotesk Trial Light" panose="020B0404020202020204" pitchFamily="34" charset="0"/>
              <a:cs typeface="Calibri" panose="020F0502020204030204" pitchFamily="34" charset="0"/>
            </a:endParaRPr>
          </a:p>
          <a:p>
            <a:endParaRPr lang="pt-BR" b="1" dirty="0">
              <a:ea typeface="Aktiv Grotesk Trial Light" panose="020B0404020202020204" pitchFamily="34" charset="0"/>
              <a:cs typeface="Calibri" panose="020F0502020204030204" pitchFamily="34" charset="0"/>
            </a:endParaRPr>
          </a:p>
          <a:p>
            <a:r>
              <a:rPr lang="pt-BR" sz="1800" dirty="0">
                <a:cs typeface="Calibri" panose="020F0502020204030204" pitchFamily="34" charset="0"/>
              </a:rPr>
              <a:t>A metodologia proposta pela Athon para o Alinhamento Estratégico é:</a:t>
            </a:r>
            <a:br>
              <a:rPr lang="pt-BR" sz="1800" dirty="0">
                <a:cs typeface="Calibri" panose="020F0502020204030204" pitchFamily="34" charset="0"/>
              </a:rPr>
            </a:br>
            <a:endParaRPr lang="pt-BR" sz="1800" dirty="0">
              <a:cs typeface="Calibri" panose="020F050202020403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800" dirty="0">
                <a:cs typeface="Calibri" panose="020F0502020204030204" pitchFamily="34" charset="0"/>
              </a:rPr>
              <a:t>Alinhamento da Identidade Organizacional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800" dirty="0">
                <a:cs typeface="Calibri" panose="020F0502020204030204" pitchFamily="34" charset="0"/>
              </a:rPr>
              <a:t>Análise dos ambientes internos e externos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800" dirty="0">
                <a:cs typeface="Calibri" panose="020F0502020204030204" pitchFamily="34" charset="0"/>
              </a:rPr>
              <a:t>Elaboração do Mapa Estratégico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1800" dirty="0">
                <a:cs typeface="Calibri" panose="020F0502020204030204" pitchFamily="34" charset="0"/>
              </a:rPr>
              <a:t>Workshop de validação</a:t>
            </a:r>
          </a:p>
          <a:p>
            <a:endParaRPr lang="pt-BR" sz="1800" dirty="0">
              <a:cs typeface="Calibri" panose="020F0502020204030204" pitchFamily="34" charset="0"/>
            </a:endParaRPr>
          </a:p>
          <a:p>
            <a:pPr algn="just"/>
            <a:r>
              <a:rPr lang="pt-BR" sz="1800" dirty="0">
                <a:cs typeface="Calibri" panose="020F0502020204030204" pitchFamily="34" charset="0"/>
              </a:rPr>
              <a:t>Com isso será possível assegurar maior clareza sobre a cultura empresarial, identificação dos pontos críticos, além de um plano de ação assertivo.</a:t>
            </a:r>
          </a:p>
        </p:txBody>
      </p:sp>
      <p:pic>
        <p:nvPicPr>
          <p:cNvPr id="21" name="Imagem 20">
            <a:extLst>
              <a:ext uri="{FF2B5EF4-FFF2-40B4-BE49-F238E27FC236}">
                <a16:creationId xmlns:a16="http://schemas.microsoft.com/office/drawing/2014/main" id="{85649F2E-F691-A04A-B502-394A448F8EF8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17306" y="3725261"/>
            <a:ext cx="371815" cy="445103"/>
          </a:xfrm>
          <a:prstGeom prst="rect">
            <a:avLst/>
          </a:prstGeom>
        </p:spPr>
      </p:pic>
      <p:pic>
        <p:nvPicPr>
          <p:cNvPr id="22" name="Imagem 21">
            <a:extLst>
              <a:ext uri="{FF2B5EF4-FFF2-40B4-BE49-F238E27FC236}">
                <a16:creationId xmlns:a16="http://schemas.microsoft.com/office/drawing/2014/main" id="{38B66894-E1C2-87DF-711B-8B0E39DE783E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8908" y="4125019"/>
            <a:ext cx="404580" cy="442914"/>
          </a:xfrm>
          <a:prstGeom prst="rect">
            <a:avLst/>
          </a:prstGeom>
        </p:spPr>
      </p:pic>
      <p:pic>
        <p:nvPicPr>
          <p:cNvPr id="23" name="Imagem 22">
            <a:extLst>
              <a:ext uri="{FF2B5EF4-FFF2-40B4-BE49-F238E27FC236}">
                <a16:creationId xmlns:a16="http://schemas.microsoft.com/office/drawing/2014/main" id="{7C0BE573-8103-9C2A-0029-0B296D5FED6B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15612" y="4522588"/>
            <a:ext cx="410641" cy="442914"/>
          </a:xfrm>
          <a:prstGeom prst="rect">
            <a:avLst/>
          </a:prstGeom>
        </p:spPr>
      </p:pic>
      <p:pic>
        <p:nvPicPr>
          <p:cNvPr id="24" name="Imagem 23">
            <a:extLst>
              <a:ext uri="{FF2B5EF4-FFF2-40B4-BE49-F238E27FC236}">
                <a16:creationId xmlns:a16="http://schemas.microsoft.com/office/drawing/2014/main" id="{9B14FD30-B68B-0D0C-3085-EC46C2B2E0B2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15612" y="4920158"/>
            <a:ext cx="410641" cy="442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72437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push dir="u"/>
      </p:transition>
    </mc:Choice>
    <mc:Fallback xmlns="">
      <p:transition spd="slow">
        <p:push dir="u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object 8">
            <a:extLst>
              <a:ext uri="{FF2B5EF4-FFF2-40B4-BE49-F238E27FC236}">
                <a16:creationId xmlns:a16="http://schemas.microsoft.com/office/drawing/2014/main" id="{F875405A-4045-4133-B2B4-8A7B5E83AE7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83311" y="374441"/>
            <a:ext cx="11544946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z="3200" b="1" spc="-10" dirty="0">
                <a:solidFill>
                  <a:srgbClr val="0699F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 SOLUÇÃO ATHON: ALINHAMENTO ESTRATÉGICO</a:t>
            </a:r>
            <a:endParaRPr sz="3200" b="1" dirty="0">
              <a:solidFill>
                <a:srgbClr val="0699FA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8" name="Imagem 27" descr="Logotipo&#10;&#10;Descrição gerada automaticamente com confiança média">
            <a:extLst>
              <a:ext uri="{FF2B5EF4-FFF2-40B4-BE49-F238E27FC236}">
                <a16:creationId xmlns:a16="http://schemas.microsoft.com/office/drawing/2014/main" id="{81B4D6A5-219C-4C7C-B68A-C7694AEBD630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8894"/>
          <a:stretch/>
        </p:blipFill>
        <p:spPr>
          <a:xfrm>
            <a:off x="11588767" y="6219694"/>
            <a:ext cx="589060" cy="566822"/>
          </a:xfrm>
          <a:prstGeom prst="rect">
            <a:avLst/>
          </a:prstGeom>
        </p:spPr>
      </p:pic>
      <p:sp>
        <p:nvSpPr>
          <p:cNvPr id="3" name="Freeform 25">
            <a:extLst>
              <a:ext uri="{FF2B5EF4-FFF2-40B4-BE49-F238E27FC236}">
                <a16:creationId xmlns:a16="http://schemas.microsoft.com/office/drawing/2014/main" id="{A60996E3-F6F9-8EF4-9DF8-65BAC15D51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0873" y="2958546"/>
            <a:ext cx="2076330" cy="2076330"/>
          </a:xfrm>
          <a:custGeom>
            <a:avLst/>
            <a:gdLst>
              <a:gd name="T0" fmla="*/ 3334 w 3335"/>
              <a:gd name="T1" fmla="*/ 1666 h 3333"/>
              <a:gd name="T2" fmla="*/ 1667 w 3335"/>
              <a:gd name="T3" fmla="*/ 3332 h 3333"/>
              <a:gd name="T4" fmla="*/ 0 w 3335"/>
              <a:gd name="T5" fmla="*/ 1666 h 3333"/>
              <a:gd name="T6" fmla="*/ 1667 w 3335"/>
              <a:gd name="T7" fmla="*/ 0 h 3333"/>
              <a:gd name="T8" fmla="*/ 3334 w 3335"/>
              <a:gd name="T9" fmla="*/ 1666 h 33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335" h="3333">
                <a:moveTo>
                  <a:pt x="3334" y="1666"/>
                </a:moveTo>
                <a:cubicBezTo>
                  <a:pt x="3334" y="2586"/>
                  <a:pt x="2587" y="3332"/>
                  <a:pt x="1667" y="3332"/>
                </a:cubicBezTo>
                <a:cubicBezTo>
                  <a:pt x="747" y="3332"/>
                  <a:pt x="0" y="2586"/>
                  <a:pt x="0" y="1666"/>
                </a:cubicBezTo>
                <a:cubicBezTo>
                  <a:pt x="0" y="746"/>
                  <a:pt x="747" y="0"/>
                  <a:pt x="1667" y="0"/>
                </a:cubicBezTo>
                <a:cubicBezTo>
                  <a:pt x="2587" y="0"/>
                  <a:pt x="3334" y="746"/>
                  <a:pt x="3334" y="1666"/>
                </a:cubicBezTo>
              </a:path>
            </a:pathLst>
          </a:custGeom>
          <a:solidFill>
            <a:srgbClr val="CACACA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defTabSz="91421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1C1B29"/>
              </a:solidFill>
              <a:effectLst/>
              <a:uLnTx/>
              <a:uFillTx/>
              <a:latin typeface="Aktiv Grotesk Trial Light" panose="020B0404020202020204" pitchFamily="34" charset="0"/>
              <a:ea typeface="Aktiv Grotesk Trial Light" panose="020B0404020202020204" pitchFamily="34" charset="0"/>
              <a:cs typeface="Aktiv Grotesk Trial Light" panose="020B0404020202020204" pitchFamily="34" charset="0"/>
            </a:endParaRPr>
          </a:p>
        </p:txBody>
      </p:sp>
      <p:sp>
        <p:nvSpPr>
          <p:cNvPr id="4" name="Freeform 26">
            <a:extLst>
              <a:ext uri="{FF2B5EF4-FFF2-40B4-BE49-F238E27FC236}">
                <a16:creationId xmlns:a16="http://schemas.microsoft.com/office/drawing/2014/main" id="{2F03C4E2-BC1A-D9E0-6098-EC238E902C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8026" y="4260372"/>
            <a:ext cx="2142245" cy="2142245"/>
          </a:xfrm>
          <a:custGeom>
            <a:avLst/>
            <a:gdLst>
              <a:gd name="T0" fmla="*/ 1713 w 3438"/>
              <a:gd name="T1" fmla="*/ 0 h 3438"/>
              <a:gd name="T2" fmla="*/ 122 w 3438"/>
              <a:gd name="T3" fmla="*/ 0 h 3438"/>
              <a:gd name="T4" fmla="*/ 0 w 3438"/>
              <a:gd name="T5" fmla="*/ 122 h 3438"/>
              <a:gd name="T6" fmla="*/ 0 w 3438"/>
              <a:gd name="T7" fmla="*/ 3315 h 3438"/>
              <a:gd name="T8" fmla="*/ 122 w 3438"/>
              <a:gd name="T9" fmla="*/ 3437 h 3438"/>
              <a:gd name="T10" fmla="*/ 3315 w 3438"/>
              <a:gd name="T11" fmla="*/ 3437 h 3438"/>
              <a:gd name="T12" fmla="*/ 3437 w 3438"/>
              <a:gd name="T13" fmla="*/ 3315 h 3438"/>
              <a:gd name="T14" fmla="*/ 3437 w 3438"/>
              <a:gd name="T15" fmla="*/ 1713 h 3438"/>
              <a:gd name="T16" fmla="*/ 1713 w 3438"/>
              <a:gd name="T17" fmla="*/ 0 h 34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438" h="3438">
                <a:moveTo>
                  <a:pt x="1713" y="0"/>
                </a:moveTo>
                <a:lnTo>
                  <a:pt x="122" y="0"/>
                </a:lnTo>
                <a:cubicBezTo>
                  <a:pt x="55" y="0"/>
                  <a:pt x="0" y="55"/>
                  <a:pt x="0" y="122"/>
                </a:cubicBezTo>
                <a:lnTo>
                  <a:pt x="0" y="3315"/>
                </a:lnTo>
                <a:cubicBezTo>
                  <a:pt x="0" y="3382"/>
                  <a:pt x="55" y="3437"/>
                  <a:pt x="122" y="3437"/>
                </a:cubicBezTo>
                <a:lnTo>
                  <a:pt x="3315" y="3437"/>
                </a:lnTo>
                <a:cubicBezTo>
                  <a:pt x="3382" y="3437"/>
                  <a:pt x="3437" y="3382"/>
                  <a:pt x="3437" y="3315"/>
                </a:cubicBezTo>
                <a:lnTo>
                  <a:pt x="3437" y="1713"/>
                </a:lnTo>
                <a:cubicBezTo>
                  <a:pt x="2574" y="1539"/>
                  <a:pt x="1893" y="861"/>
                  <a:pt x="1713" y="0"/>
                </a:cubicBezTo>
              </a:path>
            </a:pathLst>
          </a:custGeom>
          <a:solidFill>
            <a:srgbClr val="606060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defTabSz="91421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AAAAAA"/>
              </a:solidFill>
              <a:effectLst/>
              <a:uLnTx/>
              <a:uFillTx/>
              <a:latin typeface="Aktiv Grotesk Trial Light" panose="020B0404020202020204" pitchFamily="34" charset="0"/>
              <a:ea typeface="Aktiv Grotesk Trial Light" panose="020B0404020202020204" pitchFamily="34" charset="0"/>
              <a:cs typeface="Aktiv Grotesk Trial Light" panose="020B0404020202020204" pitchFamily="34" charset="0"/>
            </a:endParaRPr>
          </a:p>
        </p:txBody>
      </p:sp>
      <p:sp>
        <p:nvSpPr>
          <p:cNvPr id="5" name="Freeform 27">
            <a:extLst>
              <a:ext uri="{FF2B5EF4-FFF2-40B4-BE49-F238E27FC236}">
                <a16:creationId xmlns:a16="http://schemas.microsoft.com/office/drawing/2014/main" id="{A4178183-1EBF-0491-58B3-CEB2A8805D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7805" y="4260372"/>
            <a:ext cx="2142245" cy="2142245"/>
          </a:xfrm>
          <a:custGeom>
            <a:avLst/>
            <a:gdLst>
              <a:gd name="T0" fmla="*/ 3315 w 3439"/>
              <a:gd name="T1" fmla="*/ 0 h 3438"/>
              <a:gd name="T2" fmla="*/ 1706 w 3439"/>
              <a:gd name="T3" fmla="*/ 0 h 3438"/>
              <a:gd name="T4" fmla="*/ 0 w 3439"/>
              <a:gd name="T5" fmla="*/ 1709 h 3438"/>
              <a:gd name="T6" fmla="*/ 0 w 3439"/>
              <a:gd name="T7" fmla="*/ 3315 h 3438"/>
              <a:gd name="T8" fmla="*/ 122 w 3439"/>
              <a:gd name="T9" fmla="*/ 3437 h 3438"/>
              <a:gd name="T10" fmla="*/ 3315 w 3439"/>
              <a:gd name="T11" fmla="*/ 3437 h 3438"/>
              <a:gd name="T12" fmla="*/ 3438 w 3439"/>
              <a:gd name="T13" fmla="*/ 3315 h 3438"/>
              <a:gd name="T14" fmla="*/ 3438 w 3439"/>
              <a:gd name="T15" fmla="*/ 122 h 3438"/>
              <a:gd name="T16" fmla="*/ 3315 w 3439"/>
              <a:gd name="T17" fmla="*/ 0 h 34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439" h="3438">
                <a:moveTo>
                  <a:pt x="3315" y="0"/>
                </a:moveTo>
                <a:lnTo>
                  <a:pt x="1706" y="0"/>
                </a:lnTo>
                <a:cubicBezTo>
                  <a:pt x="1528" y="855"/>
                  <a:pt x="855" y="1529"/>
                  <a:pt x="0" y="1709"/>
                </a:cubicBezTo>
                <a:lnTo>
                  <a:pt x="0" y="3315"/>
                </a:lnTo>
                <a:cubicBezTo>
                  <a:pt x="0" y="3382"/>
                  <a:pt x="55" y="3437"/>
                  <a:pt x="122" y="3437"/>
                </a:cubicBezTo>
                <a:lnTo>
                  <a:pt x="3315" y="3437"/>
                </a:lnTo>
                <a:cubicBezTo>
                  <a:pt x="3382" y="3437"/>
                  <a:pt x="3438" y="3382"/>
                  <a:pt x="3438" y="3315"/>
                </a:cubicBezTo>
                <a:lnTo>
                  <a:pt x="3438" y="122"/>
                </a:lnTo>
                <a:cubicBezTo>
                  <a:pt x="3438" y="55"/>
                  <a:pt x="3382" y="0"/>
                  <a:pt x="3315" y="0"/>
                </a:cubicBezTo>
              </a:path>
            </a:pathLst>
          </a:custGeom>
          <a:solidFill>
            <a:srgbClr val="303030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defTabSz="91421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AAAAAA"/>
              </a:solidFill>
              <a:effectLst/>
              <a:uLnTx/>
              <a:uFillTx/>
              <a:latin typeface="Aktiv Grotesk Trial Light" panose="020B0404020202020204" pitchFamily="34" charset="0"/>
              <a:ea typeface="Aktiv Grotesk Trial Light" panose="020B0404020202020204" pitchFamily="34" charset="0"/>
              <a:cs typeface="Aktiv Grotesk Trial Light" panose="020B0404020202020204" pitchFamily="34" charset="0"/>
            </a:endParaRPr>
          </a:p>
        </p:txBody>
      </p:sp>
      <p:sp>
        <p:nvSpPr>
          <p:cNvPr id="6" name="Freeform 28">
            <a:extLst>
              <a:ext uri="{FF2B5EF4-FFF2-40B4-BE49-F238E27FC236}">
                <a16:creationId xmlns:a16="http://schemas.microsoft.com/office/drawing/2014/main" id="{EDA5E735-9A58-94DC-8FC4-6D406177C3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8026" y="1590806"/>
            <a:ext cx="2142245" cy="2142245"/>
          </a:xfrm>
          <a:custGeom>
            <a:avLst/>
            <a:gdLst>
              <a:gd name="T0" fmla="*/ 3437 w 3438"/>
              <a:gd name="T1" fmla="*/ 1666 h 3438"/>
              <a:gd name="T2" fmla="*/ 3437 w 3438"/>
              <a:gd name="T3" fmla="*/ 122 h 3438"/>
              <a:gd name="T4" fmla="*/ 3315 w 3438"/>
              <a:gd name="T5" fmla="*/ 0 h 3438"/>
              <a:gd name="T6" fmla="*/ 122 w 3438"/>
              <a:gd name="T7" fmla="*/ 0 h 3438"/>
              <a:gd name="T8" fmla="*/ 0 w 3438"/>
              <a:gd name="T9" fmla="*/ 122 h 3438"/>
              <a:gd name="T10" fmla="*/ 0 w 3438"/>
              <a:gd name="T11" fmla="*/ 3315 h 3438"/>
              <a:gd name="T12" fmla="*/ 122 w 3438"/>
              <a:gd name="T13" fmla="*/ 3437 h 3438"/>
              <a:gd name="T14" fmla="*/ 1702 w 3438"/>
              <a:gd name="T15" fmla="*/ 3437 h 3438"/>
              <a:gd name="T16" fmla="*/ 3437 w 3438"/>
              <a:gd name="T17" fmla="*/ 1666 h 34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438" h="3438">
                <a:moveTo>
                  <a:pt x="3437" y="1666"/>
                </a:moveTo>
                <a:lnTo>
                  <a:pt x="3437" y="122"/>
                </a:lnTo>
                <a:cubicBezTo>
                  <a:pt x="3437" y="55"/>
                  <a:pt x="3382" y="0"/>
                  <a:pt x="3315" y="0"/>
                </a:cubicBezTo>
                <a:lnTo>
                  <a:pt x="122" y="0"/>
                </a:lnTo>
                <a:cubicBezTo>
                  <a:pt x="55" y="0"/>
                  <a:pt x="0" y="55"/>
                  <a:pt x="0" y="122"/>
                </a:cubicBezTo>
                <a:lnTo>
                  <a:pt x="0" y="3315"/>
                </a:lnTo>
                <a:cubicBezTo>
                  <a:pt x="0" y="3382"/>
                  <a:pt x="55" y="3437"/>
                  <a:pt x="122" y="3437"/>
                </a:cubicBezTo>
                <a:lnTo>
                  <a:pt x="1702" y="3437"/>
                </a:lnTo>
                <a:cubicBezTo>
                  <a:pt x="1862" y="2548"/>
                  <a:pt x="2554" y="1844"/>
                  <a:pt x="3437" y="1666"/>
                </a:cubicBezTo>
              </a:path>
            </a:pathLst>
          </a:custGeom>
          <a:solidFill>
            <a:srgbClr val="E3572D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defTabSz="91421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AAAAAA"/>
              </a:solidFill>
              <a:effectLst/>
              <a:uLnTx/>
              <a:uFillTx/>
              <a:latin typeface="Aktiv Grotesk Trial Light" panose="020B0404020202020204" pitchFamily="34" charset="0"/>
              <a:ea typeface="Aktiv Grotesk Trial Light" panose="020B0404020202020204" pitchFamily="34" charset="0"/>
              <a:cs typeface="Aktiv Grotesk Trial Light" panose="020B0404020202020204" pitchFamily="34" charset="0"/>
            </a:endParaRPr>
          </a:p>
        </p:txBody>
      </p:sp>
      <p:sp>
        <p:nvSpPr>
          <p:cNvPr id="7" name="Freeform 29">
            <a:extLst>
              <a:ext uri="{FF2B5EF4-FFF2-40B4-BE49-F238E27FC236}">
                <a16:creationId xmlns:a16="http://schemas.microsoft.com/office/drawing/2014/main" id="{568A5FE2-AB34-1A76-E1E2-6BD807342E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7805" y="1590806"/>
            <a:ext cx="2142245" cy="2142245"/>
          </a:xfrm>
          <a:custGeom>
            <a:avLst/>
            <a:gdLst>
              <a:gd name="T0" fmla="*/ 3315 w 3439"/>
              <a:gd name="T1" fmla="*/ 0 h 3438"/>
              <a:gd name="T2" fmla="*/ 122 w 3439"/>
              <a:gd name="T3" fmla="*/ 0 h 3438"/>
              <a:gd name="T4" fmla="*/ 0 w 3439"/>
              <a:gd name="T5" fmla="*/ 122 h 3438"/>
              <a:gd name="T6" fmla="*/ 0 w 3439"/>
              <a:gd name="T7" fmla="*/ 1670 h 3438"/>
              <a:gd name="T8" fmla="*/ 1717 w 3439"/>
              <a:gd name="T9" fmla="*/ 3437 h 3438"/>
              <a:gd name="T10" fmla="*/ 3315 w 3439"/>
              <a:gd name="T11" fmla="*/ 3437 h 3438"/>
              <a:gd name="T12" fmla="*/ 3438 w 3439"/>
              <a:gd name="T13" fmla="*/ 3315 h 3438"/>
              <a:gd name="T14" fmla="*/ 3438 w 3439"/>
              <a:gd name="T15" fmla="*/ 122 h 3438"/>
              <a:gd name="T16" fmla="*/ 3315 w 3439"/>
              <a:gd name="T17" fmla="*/ 0 h 34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439" h="3438">
                <a:moveTo>
                  <a:pt x="3315" y="0"/>
                </a:moveTo>
                <a:lnTo>
                  <a:pt x="122" y="0"/>
                </a:lnTo>
                <a:cubicBezTo>
                  <a:pt x="55" y="0"/>
                  <a:pt x="0" y="55"/>
                  <a:pt x="0" y="122"/>
                </a:cubicBezTo>
                <a:lnTo>
                  <a:pt x="0" y="1670"/>
                </a:lnTo>
                <a:cubicBezTo>
                  <a:pt x="874" y="1854"/>
                  <a:pt x="1558" y="2554"/>
                  <a:pt x="1717" y="3437"/>
                </a:cubicBezTo>
                <a:lnTo>
                  <a:pt x="3315" y="3437"/>
                </a:lnTo>
                <a:cubicBezTo>
                  <a:pt x="3382" y="3437"/>
                  <a:pt x="3438" y="3382"/>
                  <a:pt x="3438" y="3315"/>
                </a:cubicBezTo>
                <a:lnTo>
                  <a:pt x="3438" y="122"/>
                </a:lnTo>
                <a:cubicBezTo>
                  <a:pt x="3438" y="55"/>
                  <a:pt x="3382" y="0"/>
                  <a:pt x="3315" y="0"/>
                </a:cubicBezTo>
              </a:path>
            </a:pathLst>
          </a:custGeom>
          <a:solidFill>
            <a:srgbClr val="003A86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defTabSz="91421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AAAAAA"/>
              </a:solidFill>
              <a:effectLst/>
              <a:uLnTx/>
              <a:uFillTx/>
              <a:latin typeface="Aktiv Grotesk Trial Light" panose="020B0404020202020204" pitchFamily="34" charset="0"/>
              <a:ea typeface="Aktiv Grotesk Trial Light" panose="020B0404020202020204" pitchFamily="34" charset="0"/>
              <a:cs typeface="Aktiv Grotesk Trial Light" panose="020B0404020202020204" pitchFamily="34" charset="0"/>
            </a:endParaRP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8D31637E-95E4-1D9A-CD10-AF670AF9ACF8}"/>
              </a:ext>
            </a:extLst>
          </p:cNvPr>
          <p:cNvSpPr txBox="1">
            <a:spLocks/>
          </p:cNvSpPr>
          <p:nvPr/>
        </p:nvSpPr>
        <p:spPr>
          <a:xfrm>
            <a:off x="368970" y="2144575"/>
            <a:ext cx="2888324" cy="1595052"/>
          </a:xfrm>
          <a:prstGeom prst="rect">
            <a:avLst/>
          </a:prstGeom>
        </p:spPr>
        <p:txBody>
          <a:bodyPr vert="horz" wrap="square" lIns="45720" tIns="22860" rIns="45720" bIns="22860" rtlCol="0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543818">
              <a:lnSpc>
                <a:spcPct val="100000"/>
              </a:lnSpc>
            </a:pPr>
            <a:r>
              <a:rPr lang="pt-BR" sz="1200" dirty="0">
                <a:latin typeface="+mj-lt"/>
                <a:ea typeface="Aktiv Grotesk Trial Light" panose="020B0404020202020204" pitchFamily="34" charset="0"/>
                <a:cs typeface="Aktiv Grotesk Trial Light" panose="020B0404020202020204" pitchFamily="34" charset="0"/>
              </a:rPr>
              <a:t>O pensamento estratégico advém da reflexão sobre a empresa e como está inserida no mercado. Dessa forma, a discussão sobre o negócio da empresa, bem como o alinhamento da sua missão, visão e seus valores é uma fase essencial à formulação de estratégias.</a:t>
            </a:r>
          </a:p>
          <a:p>
            <a:pPr algn="r" defTabSz="543818">
              <a:lnSpc>
                <a:spcPts val="1750"/>
              </a:lnSpc>
            </a:pPr>
            <a:endParaRPr lang="pt-BR" sz="1200" dirty="0">
              <a:solidFill>
                <a:srgbClr val="1C1B29"/>
              </a:solidFill>
              <a:latin typeface="+mj-lt"/>
              <a:ea typeface="Aktiv Grotesk Trial Light" panose="020B0404020202020204" pitchFamily="34" charset="0"/>
              <a:cs typeface="Aktiv Grotesk Trial Light" panose="020B0404020202020204" pitchFamily="34" charset="0"/>
            </a:endParaRP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1F65127A-80F3-F1C8-E040-6E5D5450AF2E}"/>
              </a:ext>
            </a:extLst>
          </p:cNvPr>
          <p:cNvSpPr txBox="1">
            <a:spLocks/>
          </p:cNvSpPr>
          <p:nvPr/>
        </p:nvSpPr>
        <p:spPr>
          <a:xfrm>
            <a:off x="8678035" y="2103072"/>
            <a:ext cx="2888323" cy="1745093"/>
          </a:xfrm>
          <a:prstGeom prst="rect">
            <a:avLst/>
          </a:prstGeom>
        </p:spPr>
        <p:txBody>
          <a:bodyPr vert="horz" wrap="square" lIns="45720" tIns="22860" rIns="45720" bIns="22860" rtlCol="0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defTabSz="543818">
              <a:lnSpc>
                <a:spcPct val="100000"/>
              </a:lnSpc>
            </a:pPr>
            <a:r>
              <a:rPr lang="pt-BR" sz="1200" dirty="0">
                <a:latin typeface="+mj-lt"/>
                <a:ea typeface="Aktiv Grotesk Trial Light" panose="020B0404020202020204" pitchFamily="34" charset="0"/>
                <a:cs typeface="Aktiv Grotesk Trial Light" panose="020B0404020202020204" pitchFamily="34" charset="0"/>
              </a:rPr>
              <a:t>Levantamento de dados, coleta de informações, auxílio no processo de diagnóstico (financeiro, comercial, operacional, gente e gestão) como subsídio para a elaboração da matriz SWOT. Nessa etapa, não estão inclusos pesquisas de mercado. Caso a CONTRATANTE  já possua os dados, a </a:t>
            </a:r>
            <a:r>
              <a:rPr lang="pt-BR" sz="1200" dirty="0" err="1">
                <a:latin typeface="+mj-lt"/>
                <a:ea typeface="Aktiv Grotesk Trial Light" panose="020B0404020202020204" pitchFamily="34" charset="0"/>
                <a:cs typeface="Aktiv Grotesk Trial Light" panose="020B0404020202020204" pitchFamily="34" charset="0"/>
              </a:rPr>
              <a:t>Athon</a:t>
            </a:r>
            <a:r>
              <a:rPr lang="pt-BR" sz="1200" dirty="0">
                <a:latin typeface="+mj-lt"/>
                <a:ea typeface="Aktiv Grotesk Trial Light" panose="020B0404020202020204" pitchFamily="34" charset="0"/>
                <a:cs typeface="Aktiv Grotesk Trial Light" panose="020B0404020202020204" pitchFamily="34" charset="0"/>
              </a:rPr>
              <a:t> se compromete à analisá-los.</a:t>
            </a:r>
          </a:p>
          <a:p>
            <a:pPr algn="l" defTabSz="543818">
              <a:lnSpc>
                <a:spcPct val="100000"/>
              </a:lnSpc>
            </a:pPr>
            <a:endParaRPr lang="en-US" sz="1200" dirty="0">
              <a:solidFill>
                <a:srgbClr val="1C1B29"/>
              </a:solidFill>
              <a:latin typeface="+mj-lt"/>
              <a:ea typeface="Aktiv Grotesk Trial Light" panose="020B0404020202020204" pitchFamily="34" charset="0"/>
              <a:cs typeface="Aktiv Grotesk Trial Light" panose="020B0404020202020204" pitchFamily="34" charset="0"/>
            </a:endParaRPr>
          </a:p>
        </p:txBody>
      </p:sp>
      <p:sp>
        <p:nvSpPr>
          <p:cNvPr id="10" name="TextBox 38">
            <a:extLst>
              <a:ext uri="{FF2B5EF4-FFF2-40B4-BE49-F238E27FC236}">
                <a16:creationId xmlns:a16="http://schemas.microsoft.com/office/drawing/2014/main" id="{5A625884-8FCE-9638-0FC6-9C3CBD0D3740}"/>
              </a:ext>
            </a:extLst>
          </p:cNvPr>
          <p:cNvSpPr txBox="1"/>
          <p:nvPr/>
        </p:nvSpPr>
        <p:spPr>
          <a:xfrm>
            <a:off x="8678035" y="1806021"/>
            <a:ext cx="2316147" cy="338554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pPr defTabSz="914217"/>
            <a:r>
              <a:rPr lang="pt-BR" sz="1600" b="1" dirty="0">
                <a:solidFill>
                  <a:srgbClr val="08204C"/>
                </a:solidFill>
                <a:latin typeface="Calibri" panose="020F0502020204030204" pitchFamily="34" charset="0"/>
                <a:ea typeface="Aktiv Grotesk Trial Light" panose="020B0404020202020204" pitchFamily="34" charset="0"/>
                <a:cs typeface="Calibri" panose="020F0502020204030204" pitchFamily="34" charset="0"/>
              </a:rPr>
              <a:t>Análise Interna e Externa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D2DEF1AA-C080-D426-8C9A-FB8530C64EAB}"/>
              </a:ext>
            </a:extLst>
          </p:cNvPr>
          <p:cNvSpPr txBox="1">
            <a:spLocks/>
          </p:cNvSpPr>
          <p:nvPr/>
        </p:nvSpPr>
        <p:spPr>
          <a:xfrm>
            <a:off x="368970" y="4664244"/>
            <a:ext cx="2888324" cy="858697"/>
          </a:xfrm>
          <a:prstGeom prst="rect">
            <a:avLst/>
          </a:prstGeom>
        </p:spPr>
        <p:txBody>
          <a:bodyPr vert="horz" wrap="square" lIns="45720" tIns="22860" rIns="45720" bIns="22860" rtlCol="0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algn="r" defTabSz="543818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pt-BR" sz="1200" dirty="0">
                <a:latin typeface="+mj-lt"/>
                <a:ea typeface="Aktiv Grotesk Trial Light" panose="020B0404020202020204" pitchFamily="34" charset="0"/>
                <a:cs typeface="Aktiv Grotesk Trial Light" panose="020B0404020202020204" pitchFamily="34" charset="0"/>
              </a:rPr>
              <a:t>Apresentações das Matrizes SWOT e mapas estratégicos;</a:t>
            </a:r>
          </a:p>
          <a:p>
            <a:pPr marL="171450" indent="-171450" algn="r" defTabSz="543818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pt-BR" sz="1200" dirty="0">
                <a:latin typeface="+mj-lt"/>
                <a:ea typeface="Aktiv Grotesk Trial Light" panose="020B0404020202020204" pitchFamily="34" charset="0"/>
                <a:cs typeface="Aktiv Grotesk Trial Light" panose="020B0404020202020204" pitchFamily="34" charset="0"/>
              </a:rPr>
              <a:t>Análise de interrelação entre as </a:t>
            </a:r>
            <a:r>
              <a:rPr lang="pt-BR" sz="1200" dirty="0" err="1">
                <a:latin typeface="+mj-lt"/>
                <a:ea typeface="Aktiv Grotesk Trial Light" panose="020B0404020202020204" pitchFamily="34" charset="0"/>
                <a:cs typeface="Aktiv Grotesk Trial Light" panose="020B0404020202020204" pitchFamily="34" charset="0"/>
              </a:rPr>
              <a:t>SWOT’s</a:t>
            </a:r>
            <a:r>
              <a:rPr lang="pt-BR" sz="1200" dirty="0">
                <a:latin typeface="+mj-lt"/>
                <a:ea typeface="Aktiv Grotesk Trial Light" panose="020B0404020202020204" pitchFamily="34" charset="0"/>
                <a:cs typeface="Aktiv Grotesk Trial Light" panose="020B0404020202020204" pitchFamily="34" charset="0"/>
              </a:rPr>
              <a:t>;</a:t>
            </a:r>
          </a:p>
          <a:p>
            <a:pPr marL="171450" indent="-171450" algn="r" defTabSz="543818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pt-BR" sz="1200" dirty="0">
                <a:latin typeface="+mj-lt"/>
                <a:ea typeface="Aktiv Grotesk Trial Light" panose="020B0404020202020204" pitchFamily="34" charset="0"/>
                <a:cs typeface="Aktiv Grotesk Trial Light" panose="020B0404020202020204" pitchFamily="34" charset="0"/>
              </a:rPr>
              <a:t>Premissas do desdobramento de metas.</a:t>
            </a:r>
          </a:p>
        </p:txBody>
      </p:sp>
      <p:sp>
        <p:nvSpPr>
          <p:cNvPr id="12" name="TextBox 41">
            <a:extLst>
              <a:ext uri="{FF2B5EF4-FFF2-40B4-BE49-F238E27FC236}">
                <a16:creationId xmlns:a16="http://schemas.microsoft.com/office/drawing/2014/main" id="{33F43262-9EA6-BF18-EB7B-C5D2982244D1}"/>
              </a:ext>
            </a:extLst>
          </p:cNvPr>
          <p:cNvSpPr txBox="1"/>
          <p:nvPr/>
        </p:nvSpPr>
        <p:spPr>
          <a:xfrm>
            <a:off x="368969" y="4327112"/>
            <a:ext cx="2888324" cy="338554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/>
          <a:p>
            <a:pPr algn="r" defTabSz="914217"/>
            <a:r>
              <a:rPr lang="pt-BR" sz="1600" b="1" dirty="0">
                <a:solidFill>
                  <a:srgbClr val="08204C"/>
                </a:solidFill>
                <a:latin typeface="Calibri" panose="020F0502020204030204" pitchFamily="34" charset="0"/>
                <a:ea typeface="Aktiv Grotesk Trial Light" panose="020B0404020202020204" pitchFamily="34" charset="0"/>
                <a:cs typeface="Calibri" panose="020F0502020204030204" pitchFamily="34" charset="0"/>
              </a:rPr>
              <a:t>Workshop de Validação Final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2B5E1BE7-6A65-151D-9F42-155BDE4565F3}"/>
              </a:ext>
            </a:extLst>
          </p:cNvPr>
          <p:cNvSpPr txBox="1">
            <a:spLocks/>
          </p:cNvSpPr>
          <p:nvPr/>
        </p:nvSpPr>
        <p:spPr>
          <a:xfrm>
            <a:off x="8678036" y="4664244"/>
            <a:ext cx="2910731" cy="858697"/>
          </a:xfrm>
          <a:prstGeom prst="rect">
            <a:avLst/>
          </a:prstGeom>
        </p:spPr>
        <p:txBody>
          <a:bodyPr vert="horz" wrap="square" lIns="45720" tIns="22860" rIns="45720" bIns="22860" rtlCol="0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algn="l" defTabSz="543818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pt-BR" sz="1200" dirty="0">
                <a:latin typeface="+mj-lt"/>
                <a:ea typeface="Aktiv Grotesk Trial Light" panose="020B0404020202020204" pitchFamily="34" charset="0"/>
                <a:cs typeface="Aktiv Grotesk Trial Light" panose="020B0404020202020204" pitchFamily="34" charset="0"/>
              </a:rPr>
              <a:t>Definição dos Objetivos Estratégicos;</a:t>
            </a:r>
          </a:p>
          <a:p>
            <a:pPr marL="171450" indent="-171450" algn="l" defTabSz="543818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pt-BR" sz="1200" dirty="0">
                <a:latin typeface="+mj-lt"/>
                <a:ea typeface="Aktiv Grotesk Trial Light" panose="020B0404020202020204" pitchFamily="34" charset="0"/>
                <a:cs typeface="Aktiv Grotesk Trial Light" panose="020B0404020202020204" pitchFamily="34" charset="0"/>
              </a:rPr>
              <a:t>Definição das relações de causa e efeito;</a:t>
            </a:r>
          </a:p>
          <a:p>
            <a:pPr marL="171450" indent="-171450" algn="l" defTabSz="543818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pt-BR" sz="1200" dirty="0">
                <a:latin typeface="+mj-lt"/>
                <a:ea typeface="Aktiv Grotesk Trial Light" panose="020B0404020202020204" pitchFamily="34" charset="0"/>
                <a:cs typeface="Aktiv Grotesk Trial Light" panose="020B0404020202020204" pitchFamily="34" charset="0"/>
              </a:rPr>
              <a:t>Definição dos indicadores de monitoramento.</a:t>
            </a:r>
          </a:p>
        </p:txBody>
      </p:sp>
      <p:sp>
        <p:nvSpPr>
          <p:cNvPr id="14" name="TextBox 44">
            <a:extLst>
              <a:ext uri="{FF2B5EF4-FFF2-40B4-BE49-F238E27FC236}">
                <a16:creationId xmlns:a16="http://schemas.microsoft.com/office/drawing/2014/main" id="{B2B51F4F-CEBA-281C-442A-D95DAB979989}"/>
              </a:ext>
            </a:extLst>
          </p:cNvPr>
          <p:cNvSpPr txBox="1"/>
          <p:nvPr/>
        </p:nvSpPr>
        <p:spPr>
          <a:xfrm>
            <a:off x="8678036" y="4327112"/>
            <a:ext cx="2907847" cy="338554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pPr defTabSz="914217"/>
            <a:r>
              <a:rPr lang="pt-BR" sz="1600" b="1" dirty="0">
                <a:solidFill>
                  <a:srgbClr val="08204C"/>
                </a:solidFill>
                <a:latin typeface="Calibri" panose="020F0502020204030204" pitchFamily="34" charset="0"/>
                <a:ea typeface="Aktiv Grotesk Trial Light" panose="020B0404020202020204" pitchFamily="34" charset="0"/>
                <a:cs typeface="Calibri" panose="020F0502020204030204" pitchFamily="34" charset="0"/>
              </a:rPr>
              <a:t>Elaboração do Mapa Estratégico</a:t>
            </a:r>
          </a:p>
        </p:txBody>
      </p:sp>
      <p:sp>
        <p:nvSpPr>
          <p:cNvPr id="15" name="TextBox 45">
            <a:extLst>
              <a:ext uri="{FF2B5EF4-FFF2-40B4-BE49-F238E27FC236}">
                <a16:creationId xmlns:a16="http://schemas.microsoft.com/office/drawing/2014/main" id="{B5F4D7AE-13CD-CDE0-D93F-12A186A385D9}"/>
              </a:ext>
            </a:extLst>
          </p:cNvPr>
          <p:cNvSpPr txBox="1"/>
          <p:nvPr/>
        </p:nvSpPr>
        <p:spPr>
          <a:xfrm>
            <a:off x="3999657" y="2045665"/>
            <a:ext cx="768159" cy="78483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 defTabSz="914217"/>
            <a:r>
              <a:rPr lang="en-US" sz="4500" b="1" dirty="0">
                <a:solidFill>
                  <a:srgbClr val="FFFFFF"/>
                </a:solidFill>
                <a:latin typeface="Calibri" panose="020F0502020204030204" pitchFamily="34" charset="0"/>
                <a:ea typeface="Aktiv Grotesk Trial Light" panose="020B0404020202020204" pitchFamily="34" charset="0"/>
                <a:cs typeface="Calibri" panose="020F0502020204030204" pitchFamily="34" charset="0"/>
              </a:rPr>
              <a:t>01</a:t>
            </a:r>
          </a:p>
        </p:txBody>
      </p:sp>
      <p:sp>
        <p:nvSpPr>
          <p:cNvPr id="16" name="TextBox 46">
            <a:extLst>
              <a:ext uri="{FF2B5EF4-FFF2-40B4-BE49-F238E27FC236}">
                <a16:creationId xmlns:a16="http://schemas.microsoft.com/office/drawing/2014/main" id="{00A87985-2F5E-4D33-89F1-485449B3D5AC}"/>
              </a:ext>
            </a:extLst>
          </p:cNvPr>
          <p:cNvSpPr txBox="1"/>
          <p:nvPr/>
        </p:nvSpPr>
        <p:spPr>
          <a:xfrm>
            <a:off x="7167511" y="2045665"/>
            <a:ext cx="768159" cy="78483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 defTabSz="914217"/>
            <a:r>
              <a:rPr lang="en-US" sz="4500" b="1" dirty="0">
                <a:solidFill>
                  <a:srgbClr val="FFFFFF"/>
                </a:solidFill>
                <a:latin typeface="Calibri" panose="020F0502020204030204" pitchFamily="34" charset="0"/>
                <a:ea typeface="Aktiv Grotesk Trial Light" panose="020B0404020202020204" pitchFamily="34" charset="0"/>
                <a:cs typeface="Calibri" panose="020F0502020204030204" pitchFamily="34" charset="0"/>
              </a:rPr>
              <a:t>02</a:t>
            </a:r>
          </a:p>
        </p:txBody>
      </p:sp>
      <p:sp>
        <p:nvSpPr>
          <p:cNvPr id="17" name="TextBox 47">
            <a:extLst>
              <a:ext uri="{FF2B5EF4-FFF2-40B4-BE49-F238E27FC236}">
                <a16:creationId xmlns:a16="http://schemas.microsoft.com/office/drawing/2014/main" id="{18003751-8514-6A34-E8A9-A40EAB8F6B02}"/>
              </a:ext>
            </a:extLst>
          </p:cNvPr>
          <p:cNvSpPr txBox="1"/>
          <p:nvPr/>
        </p:nvSpPr>
        <p:spPr>
          <a:xfrm>
            <a:off x="7167511" y="5105851"/>
            <a:ext cx="768159" cy="78483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 defTabSz="914217"/>
            <a:r>
              <a:rPr lang="en-US" sz="4500" b="1" dirty="0">
                <a:solidFill>
                  <a:srgbClr val="FFFFFF"/>
                </a:solidFill>
                <a:latin typeface="Calibri" panose="020F0502020204030204" pitchFamily="34" charset="0"/>
                <a:ea typeface="Aktiv Grotesk Trial Light" panose="020B0404020202020204" pitchFamily="34" charset="0"/>
                <a:cs typeface="Calibri" panose="020F0502020204030204" pitchFamily="34" charset="0"/>
              </a:rPr>
              <a:t>03</a:t>
            </a:r>
          </a:p>
        </p:txBody>
      </p:sp>
      <p:sp>
        <p:nvSpPr>
          <p:cNvPr id="18" name="TextBox 48">
            <a:extLst>
              <a:ext uri="{FF2B5EF4-FFF2-40B4-BE49-F238E27FC236}">
                <a16:creationId xmlns:a16="http://schemas.microsoft.com/office/drawing/2014/main" id="{E2EA0098-1FA7-E9EA-4EB2-2ECD238988F6}"/>
              </a:ext>
            </a:extLst>
          </p:cNvPr>
          <p:cNvSpPr txBox="1"/>
          <p:nvPr/>
        </p:nvSpPr>
        <p:spPr>
          <a:xfrm>
            <a:off x="4127992" y="5105851"/>
            <a:ext cx="768159" cy="78483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 defTabSz="914217"/>
            <a:r>
              <a:rPr lang="en-US" sz="4500" b="1" dirty="0">
                <a:solidFill>
                  <a:srgbClr val="FFFFFF"/>
                </a:solidFill>
                <a:latin typeface="Calibri" panose="020F0502020204030204" pitchFamily="34" charset="0"/>
                <a:ea typeface="Aktiv Grotesk Trial Light" panose="020B0404020202020204" pitchFamily="34" charset="0"/>
                <a:cs typeface="Calibri" panose="020F0502020204030204" pitchFamily="34" charset="0"/>
              </a:rPr>
              <a:t>04</a:t>
            </a:r>
          </a:p>
        </p:txBody>
      </p:sp>
      <p:sp>
        <p:nvSpPr>
          <p:cNvPr id="19" name="TextBox 49">
            <a:extLst>
              <a:ext uri="{FF2B5EF4-FFF2-40B4-BE49-F238E27FC236}">
                <a16:creationId xmlns:a16="http://schemas.microsoft.com/office/drawing/2014/main" id="{26ABC30D-211C-C881-9EB2-7083AAB0A36E}"/>
              </a:ext>
            </a:extLst>
          </p:cNvPr>
          <p:cNvSpPr txBox="1"/>
          <p:nvPr/>
        </p:nvSpPr>
        <p:spPr>
          <a:xfrm>
            <a:off x="5328451" y="3827435"/>
            <a:ext cx="1278427" cy="338554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 defTabSz="914217"/>
            <a:r>
              <a:rPr lang="en-US" sz="1600" b="1" dirty="0">
                <a:solidFill>
                  <a:schemeClr val="bg1"/>
                </a:solidFill>
                <a:latin typeface="Calibri" panose="020F0502020204030204" pitchFamily="34" charset="0"/>
                <a:ea typeface="Aktiv Grotesk Trial Light" panose="020B0404020202020204" pitchFamily="34" charset="0"/>
                <a:cs typeface="Calibri" panose="020F0502020204030204" pitchFamily="34" charset="0"/>
              </a:rPr>
              <a:t>RESULTADOS</a:t>
            </a:r>
          </a:p>
        </p:txBody>
      </p:sp>
      <p:sp>
        <p:nvSpPr>
          <p:cNvPr id="20" name="TextBox 32">
            <a:extLst>
              <a:ext uri="{FF2B5EF4-FFF2-40B4-BE49-F238E27FC236}">
                <a16:creationId xmlns:a16="http://schemas.microsoft.com/office/drawing/2014/main" id="{0555328F-A422-A228-36AD-ADC8487FA23A}"/>
              </a:ext>
            </a:extLst>
          </p:cNvPr>
          <p:cNvSpPr txBox="1"/>
          <p:nvPr/>
        </p:nvSpPr>
        <p:spPr>
          <a:xfrm>
            <a:off x="368969" y="1559800"/>
            <a:ext cx="2888324" cy="584775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/>
          <a:p>
            <a:pPr algn="r" defTabSz="914217"/>
            <a:r>
              <a:rPr lang="pt-BR" sz="1600" b="1" dirty="0">
                <a:solidFill>
                  <a:srgbClr val="08204C"/>
                </a:solidFill>
                <a:latin typeface="Calibri" panose="020F0502020204030204" pitchFamily="34" charset="0"/>
                <a:ea typeface="Aktiv Grotesk Trial Light" panose="020B0404020202020204" pitchFamily="34" charset="0"/>
                <a:cs typeface="Calibri" panose="020F0502020204030204" pitchFamily="34" charset="0"/>
              </a:rPr>
              <a:t>Alinhamento da Identidade Organizacional</a:t>
            </a:r>
          </a:p>
        </p:txBody>
      </p:sp>
    </p:spTree>
    <p:extLst>
      <p:ext uri="{BB962C8B-B14F-4D97-AF65-F5344CB8AC3E}">
        <p14:creationId xmlns:p14="http://schemas.microsoft.com/office/powerpoint/2010/main" val="26966655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push dir="u"/>
      </p:transition>
    </mc:Choice>
    <mc:Fallback xmlns="">
      <p:transition spd="slow">
        <p:push dir="u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8B205D75-519E-21A2-0604-9B0CA9FF580B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8" name="Retângulo 7">
            <a:extLst>
              <a:ext uri="{FF2B5EF4-FFF2-40B4-BE49-F238E27FC236}">
                <a16:creationId xmlns:a16="http://schemas.microsoft.com/office/drawing/2014/main" id="{07C5950D-EC9B-47E3-B332-0CD1DEA3A738}"/>
              </a:ext>
            </a:extLst>
          </p:cNvPr>
          <p:cNvSpPr/>
          <p:nvPr/>
        </p:nvSpPr>
        <p:spPr>
          <a:xfrm>
            <a:off x="0" y="-59557"/>
            <a:ext cx="12192000" cy="6917557"/>
          </a:xfrm>
          <a:prstGeom prst="rect">
            <a:avLst/>
          </a:prstGeom>
          <a:solidFill>
            <a:srgbClr val="004AFB">
              <a:alpha val="6588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latin typeface="Aktiv Grotesk Trial Light" panose="020B0404020202020204" pitchFamily="34" charset="0"/>
            </a:endParaRP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F0CB58AF-21B2-337A-FB99-847FC30E8AD5}"/>
              </a:ext>
            </a:extLst>
          </p:cNvPr>
          <p:cNvSpPr/>
          <p:nvPr/>
        </p:nvSpPr>
        <p:spPr>
          <a:xfrm>
            <a:off x="0" y="-44669"/>
            <a:ext cx="12192000" cy="6917558"/>
          </a:xfrm>
          <a:prstGeom prst="rect">
            <a:avLst/>
          </a:prstGeom>
          <a:blipFill dpi="0" rotWithShape="1">
            <a:blip r:embed="rId4">
              <a:alphaModFix amt="20105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2B7D85BD-F3D1-4DF7-9D1B-A5E4F8599656}"/>
              </a:ext>
            </a:extLst>
          </p:cNvPr>
          <p:cNvSpPr txBox="1"/>
          <p:nvPr/>
        </p:nvSpPr>
        <p:spPr>
          <a:xfrm>
            <a:off x="5053264" y="1241286"/>
            <a:ext cx="674321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5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lang="pt-BR" sz="54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PROJETO</a:t>
            </a: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D774FE4F-0DA8-4158-AF4F-AAE36C450DD5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561096" y="5847499"/>
            <a:ext cx="2235381" cy="658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04133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warp dir="in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object 8">
            <a:extLst>
              <a:ext uri="{FF2B5EF4-FFF2-40B4-BE49-F238E27FC236}">
                <a16:creationId xmlns:a16="http://schemas.microsoft.com/office/drawing/2014/main" id="{FC4ABDC0-472C-45C1-B118-5DD046A41B8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83311" y="151295"/>
            <a:ext cx="11305455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z="3600" b="1" spc="-10" dirty="0">
                <a:solidFill>
                  <a:srgbClr val="0699F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ENTREGAS: ALINHAMENTO ESTRATÉGICO</a:t>
            </a:r>
            <a:endParaRPr sz="3600" b="1" dirty="0">
              <a:solidFill>
                <a:srgbClr val="0699FA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2" name="Imagem 31" descr="Logotipo&#10;&#10;Descrição gerada automaticamente com confiança média">
            <a:extLst>
              <a:ext uri="{FF2B5EF4-FFF2-40B4-BE49-F238E27FC236}">
                <a16:creationId xmlns:a16="http://schemas.microsoft.com/office/drawing/2014/main" id="{8759B577-AA9F-400A-9192-5AEE32E5DF1E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8894"/>
          <a:stretch/>
        </p:blipFill>
        <p:spPr>
          <a:xfrm>
            <a:off x="11588767" y="6219694"/>
            <a:ext cx="589060" cy="566822"/>
          </a:xfrm>
          <a:prstGeom prst="rect">
            <a:avLst/>
          </a:prstGeom>
        </p:spPr>
      </p:pic>
      <p:sp>
        <p:nvSpPr>
          <p:cNvPr id="2" name="Retângulo de cantos arredondados 50">
            <a:extLst>
              <a:ext uri="{FF2B5EF4-FFF2-40B4-BE49-F238E27FC236}">
                <a16:creationId xmlns:a16="http://schemas.microsoft.com/office/drawing/2014/main" id="{9D0B8F39-EB92-48CC-560A-CE01A5DC1F42}"/>
              </a:ext>
            </a:extLst>
          </p:cNvPr>
          <p:cNvSpPr/>
          <p:nvPr/>
        </p:nvSpPr>
        <p:spPr>
          <a:xfrm>
            <a:off x="708494" y="919560"/>
            <a:ext cx="7757846" cy="487590"/>
          </a:xfrm>
          <a:prstGeom prst="roundRect">
            <a:avLst>
              <a:gd name="adj" fmla="val 50000"/>
            </a:avLst>
          </a:prstGeom>
          <a:solidFill>
            <a:srgbClr val="FFFFFF">
              <a:lumMod val="95000"/>
            </a:srgb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278338" rtlCol="0" anchor="ctr"/>
          <a:lstStyle/>
          <a:p>
            <a:pPr marL="0" marR="0" lvl="0" indent="0" algn="l" defTabSz="32997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5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j-lt"/>
              <a:ea typeface="Aktiv Grotesk Trial Light" panose="020B0404020202020204" pitchFamily="34" charset="0"/>
              <a:cs typeface="Aktiv Grotesk Trial Light" panose="020B04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2B66F8D-0A60-740E-3CB0-5D598B3A0CBF}"/>
              </a:ext>
            </a:extLst>
          </p:cNvPr>
          <p:cNvSpPr txBox="1"/>
          <p:nvPr/>
        </p:nvSpPr>
        <p:spPr>
          <a:xfrm>
            <a:off x="708496" y="1730138"/>
            <a:ext cx="49391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00" b="1" i="0" u="none" strike="noStrike" kern="1200" cap="none" spc="0" normalizeH="0" baseline="0" dirty="0">
                <a:ln>
                  <a:noFill/>
                </a:ln>
                <a:solidFill>
                  <a:srgbClr val="1B2230"/>
                </a:solidFill>
                <a:effectLst/>
                <a:uLnTx/>
                <a:uFillTx/>
                <a:latin typeface="+mj-lt"/>
                <a:ea typeface="Aktiv Grotesk Trial Light" panose="020B0404020202020204" pitchFamily="34" charset="0"/>
                <a:cs typeface="Aktiv Grotesk Trial Light" panose="020B0404020202020204" pitchFamily="34" charset="0"/>
              </a:rPr>
              <a:t>O que será feito: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0010AE62-C15A-5F84-B149-77D29DBF00E6}"/>
              </a:ext>
            </a:extLst>
          </p:cNvPr>
          <p:cNvSpPr txBox="1"/>
          <p:nvPr/>
        </p:nvSpPr>
        <p:spPr>
          <a:xfrm>
            <a:off x="7865640" y="1745954"/>
            <a:ext cx="517020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00" b="1" i="0" u="none" strike="noStrike" kern="1200" cap="none" spc="0" normalizeH="0" baseline="0" dirty="0">
                <a:ln>
                  <a:noFill/>
                </a:ln>
                <a:solidFill>
                  <a:srgbClr val="1B2230"/>
                </a:solidFill>
                <a:effectLst/>
                <a:uLnTx/>
                <a:uFillTx/>
                <a:latin typeface="+mj-lt"/>
                <a:ea typeface="Aktiv Grotesk Trial Light" panose="020B0404020202020204" pitchFamily="34" charset="0"/>
                <a:cs typeface="Aktiv Grotesk Trial Light" panose="020B0404020202020204" pitchFamily="34" charset="0"/>
              </a:rPr>
              <a:t>Quem participa nesta etapa:</a:t>
            </a:r>
          </a:p>
        </p:txBody>
      </p:sp>
      <p:sp>
        <p:nvSpPr>
          <p:cNvPr id="5" name="TextBox 6">
            <a:extLst>
              <a:ext uri="{FF2B5EF4-FFF2-40B4-BE49-F238E27FC236}">
                <a16:creationId xmlns:a16="http://schemas.microsoft.com/office/drawing/2014/main" id="{1239B0F6-C797-368D-73A3-168582EF8056}"/>
              </a:ext>
            </a:extLst>
          </p:cNvPr>
          <p:cNvSpPr txBox="1"/>
          <p:nvPr/>
        </p:nvSpPr>
        <p:spPr>
          <a:xfrm>
            <a:off x="708494" y="4158414"/>
            <a:ext cx="522675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00" b="1" i="0" u="none" strike="noStrike" kern="1200" cap="none" spc="0" normalizeH="0" baseline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+mj-lt"/>
                <a:ea typeface="Aktiv Grotesk Trial Light" panose="020B0404020202020204" pitchFamily="34" charset="0"/>
                <a:cs typeface="Aktiv Grotesk Trial Light" panose="020B0404020202020204" pitchFamily="34" charset="0"/>
              </a:rPr>
              <a:t>Como será feito:</a:t>
            </a:r>
          </a:p>
        </p:txBody>
      </p:sp>
      <p:sp>
        <p:nvSpPr>
          <p:cNvPr id="7" name="Pentágono 9">
            <a:extLst>
              <a:ext uri="{FF2B5EF4-FFF2-40B4-BE49-F238E27FC236}">
                <a16:creationId xmlns:a16="http://schemas.microsoft.com/office/drawing/2014/main" id="{44CDA5AB-24C2-AE0C-2922-B29EE7338A97}"/>
              </a:ext>
            </a:extLst>
          </p:cNvPr>
          <p:cNvSpPr/>
          <p:nvPr/>
        </p:nvSpPr>
        <p:spPr>
          <a:xfrm>
            <a:off x="708494" y="2146936"/>
            <a:ext cx="6087161" cy="1660999"/>
          </a:xfrm>
          <a:prstGeom prst="homePlate">
            <a:avLst>
              <a:gd name="adj" fmla="val 0"/>
            </a:avLst>
          </a:prstGeom>
          <a:noFill/>
          <a:ln w="6350" cap="flat" cmpd="sng" algn="ctr">
            <a:noFill/>
            <a:prstDash val="sysDot"/>
            <a:miter lim="800000"/>
          </a:ln>
          <a:effectLst/>
        </p:spPr>
        <p:txBody>
          <a:bodyPr rtlCol="0" anchor="t"/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rgbClr val="1B2230"/>
                </a:solidFill>
                <a:latin typeface="+mj-lt"/>
                <a:ea typeface="Aktiv Grotesk Trial Light" panose="020B0404020202020204" pitchFamily="34" charset="0"/>
                <a:cs typeface="Aktiv Grotesk Trial Light" panose="020B0404020202020204" pitchFamily="34" charset="0"/>
              </a:rPr>
              <a:t>Atualização das análises do ambiente externo: aprofundamento do entendimento do setor, mercado, concorrentes, posicionamento, cenários, etc.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rgbClr val="1B2230"/>
                </a:solidFill>
                <a:latin typeface="+mj-lt"/>
                <a:ea typeface="Aktiv Grotesk Trial Light" panose="020B0404020202020204" pitchFamily="34" charset="0"/>
                <a:cs typeface="Aktiv Grotesk Trial Light" panose="020B0404020202020204" pitchFamily="34" charset="0"/>
              </a:rPr>
              <a:t>Atualização das análises do ambiente interno: comercial, operacional, gente e gestão (pesquisa de clima) e </a:t>
            </a:r>
            <a:r>
              <a:rPr lang="pt-BR" sz="1200" i="1" dirty="0" err="1">
                <a:solidFill>
                  <a:srgbClr val="1B2230"/>
                </a:solidFill>
                <a:latin typeface="+mj-lt"/>
                <a:ea typeface="Aktiv Grotesk Trial Light" panose="020B0404020202020204" pitchFamily="34" charset="0"/>
                <a:cs typeface="Aktiv Grotesk Trial Light" panose="020B0404020202020204" pitchFamily="34" charset="0"/>
              </a:rPr>
              <a:t>back-office</a:t>
            </a:r>
            <a:r>
              <a:rPr lang="pt-BR" sz="1200" dirty="0">
                <a:solidFill>
                  <a:srgbClr val="1B2230"/>
                </a:solidFill>
                <a:latin typeface="+mj-lt"/>
                <a:ea typeface="Aktiv Grotesk Trial Light" panose="020B0404020202020204" pitchFamily="34" charset="0"/>
                <a:cs typeface="Aktiv Grotesk Trial Light" panose="020B0404020202020204" pitchFamily="34" charset="0"/>
              </a:rPr>
              <a:t>;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rgbClr val="1B2230"/>
                </a:solidFill>
                <a:latin typeface="+mj-lt"/>
                <a:ea typeface="Aktiv Grotesk Trial Light" panose="020B0404020202020204" pitchFamily="34" charset="0"/>
                <a:cs typeface="Aktiv Grotesk Trial Light" panose="020B0404020202020204" pitchFamily="34" charset="0"/>
              </a:rPr>
              <a:t>Atualização da matriz SWOT: (S) forças, (W) fraquezas, (O) oportunidades e (T) ameaças;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1200" b="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Aktiv Grotesk Trial Light" panose="020B0404020202020204" pitchFamily="34" charset="0"/>
                <a:cs typeface="Aktiv Grotesk Trial Light" panose="020B0404020202020204" pitchFamily="34" charset="0"/>
              </a:rPr>
              <a:t>Revisão dos cenários estratégicos e </a:t>
            </a:r>
            <a:r>
              <a:rPr lang="pt-BR" sz="1200" b="0" baseline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Aktiv Grotesk Trial Light" panose="020B0404020202020204" pitchFamily="34" charset="0"/>
                <a:cs typeface="Aktiv Grotesk Trial Light" panose="020B0404020202020204" pitchFamily="34" charset="0"/>
              </a:rPr>
              <a:t>priorizacão</a:t>
            </a:r>
            <a:r>
              <a:rPr lang="pt-BR" sz="1200" b="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Aktiv Grotesk Trial Light" panose="020B0404020202020204" pitchFamily="34" charset="0"/>
                <a:cs typeface="Aktiv Grotesk Trial Light" panose="020B0404020202020204" pitchFamily="34" charset="0"/>
              </a:rPr>
              <a:t> das visões a seguir;</a:t>
            </a:r>
            <a:endParaRPr lang="pt-BR" sz="120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Aktiv Grotesk Trial Light" panose="020B0404020202020204" pitchFamily="34" charset="0"/>
              <a:cs typeface="Aktiv Grotesk Trial Light" panose="020B04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Aktiv Grotesk Trial Light" panose="020B0404020202020204" pitchFamily="34" charset="0"/>
                <a:cs typeface="Aktiv Grotesk Trial Light" panose="020B0404020202020204" pitchFamily="34" charset="0"/>
              </a:rPr>
              <a:t>Revisão dos projetos estratégicos e definição dos novos projetos estratégicos.</a:t>
            </a:r>
          </a:p>
        </p:txBody>
      </p:sp>
      <p:sp>
        <p:nvSpPr>
          <p:cNvPr id="8" name="Pentágono 9">
            <a:extLst>
              <a:ext uri="{FF2B5EF4-FFF2-40B4-BE49-F238E27FC236}">
                <a16:creationId xmlns:a16="http://schemas.microsoft.com/office/drawing/2014/main" id="{DEA4A443-2A36-7CDC-9B97-27C986368D40}"/>
              </a:ext>
            </a:extLst>
          </p:cNvPr>
          <p:cNvSpPr/>
          <p:nvPr/>
        </p:nvSpPr>
        <p:spPr>
          <a:xfrm>
            <a:off x="708494" y="4496969"/>
            <a:ext cx="10880272" cy="1722726"/>
          </a:xfrm>
          <a:prstGeom prst="homePlate">
            <a:avLst>
              <a:gd name="adj" fmla="val 0"/>
            </a:avLst>
          </a:prstGeom>
          <a:noFill/>
          <a:ln w="6350" cap="flat" cmpd="sng" algn="ctr">
            <a:noFill/>
            <a:prstDash val="sysDot"/>
            <a:miter lim="800000"/>
          </a:ln>
          <a:effectLst/>
        </p:spPr>
        <p:txBody>
          <a:bodyPr numCol="1" rtlCol="0" anchor="t"/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Aktiv Grotesk Trial Light" panose="020B0404020202020204" pitchFamily="34" charset="0"/>
                <a:cs typeface="Aktiv Grotesk Trial Light" panose="020B0404020202020204" pitchFamily="34" charset="0"/>
              </a:rPr>
              <a:t>Levantamento das expectativas dos </a:t>
            </a:r>
            <a:r>
              <a:rPr lang="pt-BR" sz="12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Aktiv Grotesk Trial Light" panose="020B0404020202020204" pitchFamily="34" charset="0"/>
                <a:cs typeface="Aktiv Grotesk Trial Light" panose="020B0404020202020204" pitchFamily="34" charset="0"/>
              </a:rPr>
              <a:t>stakeholders</a:t>
            </a:r>
            <a:r>
              <a:rPr lang="pt-B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Aktiv Grotesk Trial Light" panose="020B0404020202020204" pitchFamily="34" charset="0"/>
                <a:cs typeface="Aktiv Grotesk Trial Light" panose="020B0404020202020204" pitchFamily="34" charset="0"/>
              </a:rPr>
              <a:t>; </a:t>
            </a:r>
            <a:endParaRPr lang="pt-BR" sz="1200" dirty="0">
              <a:solidFill>
                <a:srgbClr val="1B2230"/>
              </a:solidFill>
              <a:latin typeface="+mj-lt"/>
              <a:ea typeface="Aktiv Grotesk Trial Light" panose="020B0404020202020204" pitchFamily="34" charset="0"/>
              <a:cs typeface="Aktiv Grotesk Trial Light" panose="020B04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rgbClr val="1B2230"/>
                </a:solidFill>
                <a:latin typeface="+mj-lt"/>
                <a:ea typeface="Aktiv Grotesk Trial Light" panose="020B0404020202020204" pitchFamily="34" charset="0"/>
                <a:cs typeface="Aktiv Grotesk Trial Light" panose="020B0404020202020204" pitchFamily="34" charset="0"/>
              </a:rPr>
              <a:t>No ambiente externo: será conduzida avaliação competitiva, buscando evidenciar o posicionamento do cliente, tendências do mercado em que se insere, cenários, e outras análises que permitam a reflexão sobre as oportunidades e ameaças do mercado, além de clarificar a capacidade de execução do time da Dois A Engenharia (o cliente será responsável por prover informações de mercado/segmento.);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rgbClr val="1B2230"/>
                </a:solidFill>
                <a:latin typeface="+mj-lt"/>
                <a:ea typeface="Aktiv Grotesk Trial Light" panose="020B0404020202020204" pitchFamily="34" charset="0"/>
                <a:cs typeface="Aktiv Grotesk Trial Light" panose="020B0404020202020204" pitchFamily="34" charset="0"/>
              </a:rPr>
              <a:t>No ambiente interno: serão conduzidas análises dos macroprocessos da empresa para que sejam identificadas suas forças e suas fraquezas, bem como a evolução de seus resultados financeiros (as ferramentas específicas serão definidas de acordo com a maturidade de planejamento da empresa);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rgbClr val="1B2230"/>
                </a:solidFill>
                <a:latin typeface="+mj-lt"/>
                <a:ea typeface="Aktiv Grotesk Trial Light" panose="020B0404020202020204" pitchFamily="34" charset="0"/>
                <a:cs typeface="Aktiv Grotesk Trial Light" panose="020B0404020202020204" pitchFamily="34" charset="0"/>
              </a:rPr>
              <a:t>A partir dos resultados das análises realizadas nas etapas anteriores será realizado um workshop presencial para a atualização da matriz SWOT e definição das estratégias, projetos e indicadores para cada pilar do negócio.</a:t>
            </a:r>
          </a:p>
        </p:txBody>
      </p:sp>
      <p:cxnSp>
        <p:nvCxnSpPr>
          <p:cNvPr id="9" name="Conector reto 11">
            <a:extLst>
              <a:ext uri="{FF2B5EF4-FFF2-40B4-BE49-F238E27FC236}">
                <a16:creationId xmlns:a16="http://schemas.microsoft.com/office/drawing/2014/main" id="{4E22F53A-6CBD-AF00-6EB0-A95496884850}"/>
              </a:ext>
            </a:extLst>
          </p:cNvPr>
          <p:cNvCxnSpPr>
            <a:cxnSpLocks/>
          </p:cNvCxnSpPr>
          <p:nvPr/>
        </p:nvCxnSpPr>
        <p:spPr>
          <a:xfrm>
            <a:off x="8466340" y="1176112"/>
            <a:ext cx="3579748" cy="0"/>
          </a:xfrm>
          <a:prstGeom prst="line">
            <a:avLst/>
          </a:prstGeom>
          <a:noFill/>
          <a:ln w="6350" cap="flat" cmpd="sng" algn="ctr">
            <a:solidFill>
              <a:srgbClr val="4A5C61"/>
            </a:solidFill>
            <a:prstDash val="solid"/>
            <a:miter lim="800000"/>
          </a:ln>
          <a:effectLst/>
        </p:spPr>
      </p:cxnSp>
      <p:cxnSp>
        <p:nvCxnSpPr>
          <p:cNvPr id="10" name="Straight Connector 25">
            <a:extLst>
              <a:ext uri="{FF2B5EF4-FFF2-40B4-BE49-F238E27FC236}">
                <a16:creationId xmlns:a16="http://schemas.microsoft.com/office/drawing/2014/main" id="{94154E58-8EE4-68AE-C204-8BC1D0FDD838}"/>
              </a:ext>
            </a:extLst>
          </p:cNvPr>
          <p:cNvCxnSpPr>
            <a:cxnSpLocks/>
          </p:cNvCxnSpPr>
          <p:nvPr/>
        </p:nvCxnSpPr>
        <p:spPr>
          <a:xfrm>
            <a:off x="61932" y="1166618"/>
            <a:ext cx="646564" cy="0"/>
          </a:xfrm>
          <a:prstGeom prst="line">
            <a:avLst/>
          </a:prstGeom>
          <a:noFill/>
          <a:ln w="3175" cap="flat" cmpd="sng" algn="ctr">
            <a:solidFill>
              <a:srgbClr val="4A5C61"/>
            </a:solidFill>
            <a:prstDash val="solid"/>
            <a:headEnd type="oval" w="med" len="med"/>
            <a:tailEnd type="none" w="med" len="med"/>
          </a:ln>
          <a:effectLst/>
        </p:spPr>
      </p:cxnSp>
      <p:pic>
        <p:nvPicPr>
          <p:cNvPr id="11" name="Imagem 10">
            <a:extLst>
              <a:ext uri="{FF2B5EF4-FFF2-40B4-BE49-F238E27FC236}">
                <a16:creationId xmlns:a16="http://schemas.microsoft.com/office/drawing/2014/main" id="{B77F675E-AC9D-63F6-A695-909B89B8643F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65640" y="846140"/>
            <a:ext cx="1554959" cy="682555"/>
          </a:xfrm>
          <a:prstGeom prst="rect">
            <a:avLst/>
          </a:prstGeom>
        </p:spPr>
      </p:pic>
      <p:sp>
        <p:nvSpPr>
          <p:cNvPr id="12" name="TextBox 17">
            <a:extLst>
              <a:ext uri="{FF2B5EF4-FFF2-40B4-BE49-F238E27FC236}">
                <a16:creationId xmlns:a16="http://schemas.microsoft.com/office/drawing/2014/main" id="{55FD673E-2F91-8B6A-FD26-DFB406E6D599}"/>
              </a:ext>
            </a:extLst>
          </p:cNvPr>
          <p:cNvSpPr txBox="1"/>
          <p:nvPr/>
        </p:nvSpPr>
        <p:spPr>
          <a:xfrm>
            <a:off x="971351" y="978999"/>
            <a:ext cx="112206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1B2230"/>
                </a:solidFill>
                <a:latin typeface="+mj-lt"/>
                <a:ea typeface="Aktiv Grotesk Trial Light" panose="020B0404020202020204" pitchFamily="34" charset="0"/>
                <a:cs typeface="Aktiv Grotesk Trial Light" panose="020B0404020202020204" pitchFamily="34" charset="0"/>
              </a:rPr>
              <a:t>Detalhamento das Entregas e Atividades:</a:t>
            </a:r>
          </a:p>
        </p:txBody>
      </p:sp>
      <p:sp>
        <p:nvSpPr>
          <p:cNvPr id="16" name="Pentágono 9">
            <a:extLst>
              <a:ext uri="{FF2B5EF4-FFF2-40B4-BE49-F238E27FC236}">
                <a16:creationId xmlns:a16="http://schemas.microsoft.com/office/drawing/2014/main" id="{16343479-9974-A243-EEB3-73AEEB188A4E}"/>
              </a:ext>
            </a:extLst>
          </p:cNvPr>
          <p:cNvSpPr/>
          <p:nvPr/>
        </p:nvSpPr>
        <p:spPr>
          <a:xfrm>
            <a:off x="7319467" y="2150283"/>
            <a:ext cx="4269299" cy="1377731"/>
          </a:xfrm>
          <a:prstGeom prst="homePlate">
            <a:avLst>
              <a:gd name="adj" fmla="val 0"/>
            </a:avLst>
          </a:prstGeom>
          <a:noFill/>
          <a:ln w="6350" cap="flat" cmpd="sng" algn="ctr">
            <a:noFill/>
            <a:prstDash val="sysDot"/>
            <a:miter lim="800000"/>
          </a:ln>
          <a:effectLst/>
        </p:spPr>
        <p:txBody>
          <a:bodyPr rtlCol="0" anchor="t"/>
          <a:lstStyle/>
          <a:p>
            <a:pPr marL="285750" marR="0" lvl="0" indent="-285750" algn="just" defTabSz="739138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200" b="0" i="0" u="none" strike="noStrike" kern="1200" cap="none" spc="0" normalizeH="0" baseline="0" noProof="0" dirty="0">
                <a:ln>
                  <a:noFill/>
                </a:ln>
                <a:solidFill>
                  <a:srgbClr val="1B2230"/>
                </a:solidFill>
                <a:effectLst/>
                <a:uLnTx/>
                <a:uFillTx/>
                <a:latin typeface="+mj-lt"/>
                <a:ea typeface="Aktiv Grotesk Trial Light" panose="020B0404020202020204" pitchFamily="34" charset="0"/>
                <a:cs typeface="Aktiv Grotesk Trial Light" panose="020B0404020202020204" pitchFamily="34" charset="0"/>
              </a:rPr>
              <a:t>Todos os colaboradores envolvidos no escopo definido;</a:t>
            </a:r>
          </a:p>
          <a:p>
            <a:pPr marL="285750" indent="-285750" algn="just" defTabSz="739138"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rgbClr val="1B2230"/>
                </a:solidFill>
                <a:latin typeface="+mj-lt"/>
                <a:ea typeface="Aktiv Grotesk Trial Light" panose="020B0404020202020204" pitchFamily="34" charset="0"/>
                <a:cs typeface="Aktiv Grotesk Trial Light" panose="020B0404020202020204" pitchFamily="34" charset="0"/>
              </a:rPr>
              <a:t>Consultores da Athon Consulting em modelo híbrido conforme necessidade e agendamento.</a:t>
            </a:r>
          </a:p>
        </p:txBody>
      </p:sp>
    </p:spTree>
    <p:extLst>
      <p:ext uri="{BB962C8B-B14F-4D97-AF65-F5344CB8AC3E}">
        <p14:creationId xmlns:p14="http://schemas.microsoft.com/office/powerpoint/2010/main" val="12992239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push/>
      </p:transition>
    </mc:Choice>
    <mc:Fallback xmlns="">
      <p:transition spd="slow">
        <p:push/>
      </p:transition>
    </mc:Fallback>
  </mc:AlternateContent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55f194d-d634-4662-badb-652a16533b44">
      <Terms xmlns="http://schemas.microsoft.com/office/infopath/2007/PartnerControls"/>
    </lcf76f155ced4ddcb4097134ff3c332f>
    <TaxCatchAll xmlns="825bd08c-2334-4acf-b4fd-3833eb7aa8cf" xsi:nil="true"/>
    <_Flow_SignoffStatus xmlns="855f194d-d634-4662-badb-652a16533b44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F91B24E26C5A324498C412926B12CF4A" ma:contentTypeVersion="17" ma:contentTypeDescription="Crie um novo documento." ma:contentTypeScope="" ma:versionID="3f7ce1d8d74b18343c331f81c45f1afc">
  <xsd:schema xmlns:xsd="http://www.w3.org/2001/XMLSchema" xmlns:xs="http://www.w3.org/2001/XMLSchema" xmlns:p="http://schemas.microsoft.com/office/2006/metadata/properties" xmlns:ns2="855f194d-d634-4662-badb-652a16533b44" xmlns:ns3="825bd08c-2334-4acf-b4fd-3833eb7aa8cf" targetNamespace="http://schemas.microsoft.com/office/2006/metadata/properties" ma:root="true" ma:fieldsID="7b71a16e4a01f75bc9de43f4a00a5fc4" ns2:_="" ns3:_="">
    <xsd:import namespace="855f194d-d634-4662-badb-652a16533b44"/>
    <xsd:import namespace="825bd08c-2334-4acf-b4fd-3833eb7aa8c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LengthInSeconds" minOccurs="0"/>
                <xsd:element ref="ns2:_Flow_SignoffStatus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55f194d-d634-4662-badb-652a16533b4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_Flow_SignoffStatus" ma:index="21" nillable="true" ma:displayName="Status de liberação" ma:internalName="Status_x0020_de_x0020_libera_x00e7__x00e3_o">
      <xsd:simpleType>
        <xsd:restriction base="dms:Text"/>
      </xsd:simpleType>
    </xsd:element>
    <xsd:element name="lcf76f155ced4ddcb4097134ff3c332f" ma:index="23" nillable="true" ma:taxonomy="true" ma:internalName="lcf76f155ced4ddcb4097134ff3c332f" ma:taxonomyFieldName="MediaServiceImageTags" ma:displayName="Marcações de imagem" ma:readOnly="false" ma:fieldId="{5cf76f15-5ced-4ddc-b409-7134ff3c332f}" ma:taxonomyMulti="true" ma:sspId="54ccefce-c591-4a3b-9f51-0c43b133fb8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25bd08c-2334-4acf-b4fd-3833eb7aa8cf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0708e73b-529c-4c07-abe8-6f03f2ea7c17}" ma:internalName="TaxCatchAll" ma:showField="CatchAllData" ma:web="825bd08c-2334-4acf-b4fd-3833eb7aa8c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E908DE0-ED0D-444E-8759-4C173060EB87}">
  <ds:schemaRefs>
    <ds:schemaRef ds:uri="http://www.w3.org/XML/1998/namespace"/>
    <ds:schemaRef ds:uri="http://schemas.microsoft.com/office/2006/documentManagement/types"/>
    <ds:schemaRef ds:uri="http://schemas.microsoft.com/office/infopath/2007/PartnerControls"/>
    <ds:schemaRef ds:uri="http://purl.org/dc/terms/"/>
    <ds:schemaRef ds:uri="http://purl.org/dc/dcmitype/"/>
    <ds:schemaRef ds:uri="http://purl.org/dc/elements/1.1/"/>
    <ds:schemaRef ds:uri="http://schemas.microsoft.com/office/2006/metadata/properties"/>
    <ds:schemaRef ds:uri="http://schemas.openxmlformats.org/package/2006/metadata/core-properties"/>
    <ds:schemaRef ds:uri="825bd08c-2334-4acf-b4fd-3833eb7aa8cf"/>
    <ds:schemaRef ds:uri="855f194d-d634-4662-badb-652a16533b44"/>
  </ds:schemaRefs>
</ds:datastoreItem>
</file>

<file path=customXml/itemProps2.xml><?xml version="1.0" encoding="utf-8"?>
<ds:datastoreItem xmlns:ds="http://schemas.openxmlformats.org/officeDocument/2006/customXml" ds:itemID="{F159AE91-032A-4B0E-BE24-841F93D987A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55f194d-d634-4662-badb-652a16533b44"/>
    <ds:schemaRef ds:uri="825bd08c-2334-4acf-b4fd-3833eb7aa8c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22B41C0-D297-4AFB-AB85-5A6EA8FF101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28823</TotalTime>
  <Words>603</Words>
  <Application>Microsoft Macintosh PowerPoint</Application>
  <PresentationFormat>Widescreen</PresentationFormat>
  <Paragraphs>54</Paragraphs>
  <Slides>5</Slides>
  <Notes>5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10" baseType="lpstr">
      <vt:lpstr>Aktiv Grotesk Trial Light</vt:lpstr>
      <vt:lpstr>Arial</vt:lpstr>
      <vt:lpstr>Calibri</vt:lpstr>
      <vt:lpstr>Calibri Light</vt:lpstr>
      <vt:lpstr>Tema do Office</vt:lpstr>
      <vt:lpstr>Apresentação do PowerPoint</vt:lpstr>
      <vt:lpstr>ALINHAMENTO ESTRATÉGICO</vt:lpstr>
      <vt:lpstr>A SOLUÇÃO ATHON: ALINHAMENTO ESTRATÉGICO</vt:lpstr>
      <vt:lpstr>Apresentação do PowerPoint</vt:lpstr>
      <vt:lpstr>ENTREGAS: ALINHAMENTO ESTRATÉGICO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Luiz Fernando Leite Caldeira</dc:creator>
  <cp:lastModifiedBy>Eric Colini</cp:lastModifiedBy>
  <cp:revision>430</cp:revision>
  <dcterms:created xsi:type="dcterms:W3CDTF">2021-06-28T13:52:10Z</dcterms:created>
  <dcterms:modified xsi:type="dcterms:W3CDTF">2022-11-29T20:39:03Z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0x010100F91B24E26C5A324498C412926B12CF4A</vt:lpwstr>
  </property>
  <property fmtid="{D5CDD505-2E9C-101B-9397-08002B2CF9AE}" pid="3" name="MediaServiceImageTags">
    <vt:lpwstr/>
  </property>
</Properties>
</file>